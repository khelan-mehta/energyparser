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1.xml" ContentType="application/vnd.openxmlformats-officedocument.presentationml.notesSlide+xml"/>
  <Override PartName="/ppt/charts/chart12.xml" ContentType="application/vnd.openxmlformats-officedocument.drawingml.chart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147469345" r:id="rId5"/>
    <p:sldId id="2147469340" r:id="rId6"/>
    <p:sldId id="2147469294" r:id="rId7"/>
    <p:sldId id="2147469295" r:id="rId8"/>
    <p:sldId id="2147469369" r:id="rId9"/>
    <p:sldId id="2147469354" r:id="rId10"/>
    <p:sldId id="2147469367" r:id="rId11"/>
    <p:sldId id="2147469363" r:id="rId12"/>
    <p:sldId id="2147469383" r:id="rId13"/>
    <p:sldId id="2147469387" r:id="rId14"/>
    <p:sldId id="2147469390" r:id="rId15"/>
    <p:sldId id="2147469378" r:id="rId16"/>
    <p:sldId id="2147469388" r:id="rId17"/>
    <p:sldId id="2147469389" r:id="rId18"/>
    <p:sldId id="2147469394" r:id="rId19"/>
    <p:sldId id="21474693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6D5C"/>
    <a:srgbClr val="FF0700"/>
    <a:srgbClr val="327FB8"/>
    <a:srgbClr val="D81E21"/>
    <a:srgbClr val="FFFD00"/>
    <a:srgbClr val="03B1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7F84B-AD9F-4E0C-92A7-D7D6CF6AA658}" v="215" dt="2026-07-08T12:08:02.243"/>
    <p1510:client id="{4CA27689-7C99-4C81-BB92-F3550EE1F653}" v="286" dt="2026-07-08T12:36:21.047"/>
    <p1510:client id="{6A0B9035-4258-00A7-B74D-02844F9F1D31}" v="228" dt="2026-07-08T04:45:58.254"/>
    <p1510:client id="{C273C16C-92B6-9304-2BC4-6B538BDE05BB}" v="65" dt="2026-07-08T12:38:11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7FFFC84B_CC91E5FA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7FFFC84E_8D89917D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7FFFC84D_45565D0C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/>
              <a:t>EUI Offset vs Lower Limit — 700 kWh/m² cut-off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BIPV EUI Offset (kBtu/sq.ft)</c:v>
                </c:pt>
              </c:strCache>
            </c:strRef>
          </c:tx>
          <c:spPr>
            <a:ln w="31750" cap="rnd">
              <a:solidFill>
                <a:srgbClr val="1A1A1A"/>
              </a:solidFill>
              <a:round/>
            </a:ln>
          </c:spPr>
          <c:marker>
            <c:symbol val="circle"/>
            <c:size val="6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dPt>
            <c:idx val="7"/>
            <c:marker>
              <c:symbol val="diamond"/>
              <c:size val="13"/>
              <c:spPr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38D-415F-9408-BC254FA08574}"/>
              </c:ext>
            </c:extLst>
          </c:dPt>
          <c:xVal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</c:numCache>
            </c:numRef>
          </c:xVal>
          <c:yVal>
            <c:numRef>
              <c:f>Sheet1!$C$2:$C$17</c:f>
              <c:numCache>
                <c:formatCode>General</c:formatCode>
                <c:ptCount val="16"/>
                <c:pt idx="0">
                  <c:v>2.27</c:v>
                </c:pt>
                <c:pt idx="1">
                  <c:v>2.2599999999999998</c:v>
                </c:pt>
                <c:pt idx="2">
                  <c:v>2.25</c:v>
                </c:pt>
                <c:pt idx="3">
                  <c:v>2.2400000000000002</c:v>
                </c:pt>
                <c:pt idx="4">
                  <c:v>2.13</c:v>
                </c:pt>
                <c:pt idx="5">
                  <c:v>2.0099999999999998</c:v>
                </c:pt>
                <c:pt idx="6">
                  <c:v>1.68</c:v>
                </c:pt>
                <c:pt idx="7">
                  <c:v>1.28</c:v>
                </c:pt>
                <c:pt idx="8">
                  <c:v>0.3</c:v>
                </c:pt>
                <c:pt idx="9">
                  <c:v>0.03</c:v>
                </c:pt>
                <c:pt idx="10">
                  <c:v>3.0000000000000001E-3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38D-415F-9408-BC254FA08574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700 kWh/m² cut-off</c:v>
                </c:pt>
              </c:strCache>
            </c:strRef>
          </c:tx>
          <c:spPr>
            <a:ln w="22225">
              <a:solidFill>
                <a:srgbClr val="000000"/>
              </a:solidFill>
              <a:prstDash val="dash"/>
            </a:ln>
          </c:spPr>
          <c:marker>
            <c:symbol val="none"/>
          </c:marker>
          <c:xVal>
            <c:numRef>
              <c:f>Sheet1!$B$2:$B$17</c:f>
              <c:numCache>
                <c:formatCode>General</c:formatCode>
                <c:ptCount val="16"/>
                <c:pt idx="0">
                  <c:v>700</c:v>
                </c:pt>
                <c:pt idx="1">
                  <c:v>700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xVal>
          <c:yVal>
            <c:numRef>
              <c:f>Sheet1!$D$2:$D$17</c:f>
              <c:numCache>
                <c:formatCode>General</c:formatCode>
                <c:ptCount val="16"/>
                <c:pt idx="0">
                  <c:v>0</c:v>
                </c:pt>
                <c:pt idx="1">
                  <c:v>2.4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38D-415F-9408-BC254FA085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"/>
        <c:axId val="12"/>
      </c:scatterChart>
      <c:valAx>
        <c:axId val="11"/>
        <c:scaling>
          <c:orientation val="minMax"/>
          <c:max val="1500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sz="1400" b="1"/>
                </a:pPr>
                <a:r>
                  <a:rPr lang="en-US" sz="1400" b="1"/>
                  <a:t>Lower Limit (kWh/m²)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2"/>
        <c:crosses val="autoZero"/>
        <c:crossBetween val="midCat"/>
        <c:majorUnit val="100"/>
      </c:valAx>
      <c:valAx>
        <c:axId val="12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EUI (kBtu/ft²)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1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/>
              <a:t>Production Potential vs kWh/Area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BIPV Production Potential (kWh)</c:v>
          </c:tx>
          <c:spPr>
            <a:ln w="31750" cap="rnd">
              <a:solidFill>
                <a:srgbClr val="1A1A1A"/>
              </a:solidFill>
              <a:round/>
            </a:ln>
          </c:spPr>
          <c:marker>
            <c:symbol val="circle"/>
            <c:size val="6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149671</c:v>
              </c:pt>
              <c:pt idx="1">
                <c:v>148841</c:v>
              </c:pt>
              <c:pt idx="2">
                <c:v>148160</c:v>
              </c:pt>
              <c:pt idx="3">
                <c:v>147456</c:v>
              </c:pt>
              <c:pt idx="4">
                <c:v>140214</c:v>
              </c:pt>
              <c:pt idx="5">
                <c:v>132526</c:v>
              </c:pt>
              <c:pt idx="6">
                <c:v>111033</c:v>
              </c:pt>
              <c:pt idx="7">
                <c:v>84723</c:v>
              </c:pt>
              <c:pt idx="8">
                <c:v>20179</c:v>
              </c:pt>
              <c:pt idx="9">
                <c:v>2360</c:v>
              </c:pt>
              <c:pt idx="10">
                <c:v>201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C10D-4E0E-8BAD-7121D698E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"/>
        <c:axId val="12"/>
      </c:scatterChart>
      <c:scatterChart>
        <c:scatterStyle val="lineMarker"/>
        <c:varyColors val="0"/>
        <c:ser>
          <c:idx val="1"/>
          <c:order val="1"/>
          <c:tx>
            <c:v>Production (kWh/Area)</c:v>
          </c:tx>
          <c:spPr>
            <a:ln w="31750" cap="rnd">
              <a:solidFill>
                <a:srgbClr val="808080"/>
              </a:solidFill>
              <a:prstDash val="dash"/>
              <a:round/>
            </a:ln>
          </c:spPr>
          <c:marker>
            <c:symbol val="square"/>
            <c:size val="6"/>
            <c:spPr>
              <a:solidFill>
                <a:srgbClr val="808080"/>
              </a:solidFill>
              <a:ln>
                <a:solidFill>
                  <a:srgbClr val="808080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3.4</c:v>
              </c:pt>
              <c:pt idx="1">
                <c:v>4</c:v>
              </c:pt>
              <c:pt idx="2">
                <c:v>4.0999999999999996</c:v>
              </c:pt>
              <c:pt idx="3">
                <c:v>4.0999999999999996</c:v>
              </c:pt>
              <c:pt idx="4">
                <c:v>4.3</c:v>
              </c:pt>
              <c:pt idx="5">
                <c:v>4.4000000000000004</c:v>
              </c:pt>
              <c:pt idx="6">
                <c:v>4.7</c:v>
              </c:pt>
              <c:pt idx="7">
                <c:v>4.9000000000000004</c:v>
              </c:pt>
              <c:pt idx="8">
                <c:v>5.3</c:v>
              </c:pt>
              <c:pt idx="9">
                <c:v>5.4</c:v>
              </c:pt>
              <c:pt idx="10">
                <c:v>2.5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C10D-4E0E-8BAD-7121D698E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"/>
        <c:axId val="14"/>
      </c:scatterChart>
      <c:valAx>
        <c:axId val="11"/>
        <c:scaling>
          <c:orientation val="minMax"/>
          <c:max val="1500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sz="1400" b="1"/>
                </a:pPr>
                <a:r>
                  <a:rPr lang="en-US" sz="1400" b="1"/>
                  <a:t>Lower Limit (kWh/m²)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2"/>
        <c:crosses val="autoZero"/>
        <c:crossBetween val="midCat"/>
        <c:majorUnit val="300"/>
      </c:valAx>
      <c:valAx>
        <c:axId val="12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Production (kWh)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1"/>
        <c:crosses val="autoZero"/>
        <c:crossBetween val="midCat"/>
      </c:valAx>
      <c:valAx>
        <c:axId val="14"/>
        <c:scaling>
          <c:orientation val="minMax"/>
          <c:min val="0"/>
        </c:scaling>
        <c:delete val="0"/>
        <c:axPos val="r"/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kWh/Area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3"/>
        <c:crosses val="max"/>
        <c:crossBetween val="midCat"/>
      </c:valAx>
      <c:valAx>
        <c:axId val="13"/>
        <c:scaling>
          <c:orientation val="minMax"/>
          <c:max val="1500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4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500" b="1"/>
            </a:pPr>
            <a:r>
              <a:rPr lang="en-US" sz="1500" b="1"/>
              <a:t>EUI Offset vs Lower Limit — 700 kWh/m² cut-off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BIPV EUI Offset (kBtu/sq.ft)</c:v>
                </c:pt>
              </c:strCache>
            </c:strRef>
          </c:tx>
          <c:spPr>
            <a:ln w="31750" cap="rnd">
              <a:solidFill>
                <a:srgbClr val="1A1A1A"/>
              </a:solidFill>
              <a:round/>
            </a:ln>
          </c:spPr>
          <c:marker>
            <c:symbol val="circle"/>
            <c:size val="6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dPt>
            <c:idx val="7"/>
            <c:marker>
              <c:symbol val="diamond"/>
              <c:size val="13"/>
              <c:spPr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D9F-44FF-9533-769EA2885D6A}"/>
              </c:ext>
            </c:extLst>
          </c:dPt>
          <c:xVal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</c:numCache>
            </c:numRef>
          </c:xVal>
          <c:yVal>
            <c:numRef>
              <c:f>Sheet1!$C$2:$C$17</c:f>
              <c:numCache>
                <c:formatCode>General</c:formatCode>
                <c:ptCount val="16"/>
                <c:pt idx="0">
                  <c:v>2.27</c:v>
                </c:pt>
                <c:pt idx="1">
                  <c:v>2.2599999999999998</c:v>
                </c:pt>
                <c:pt idx="2">
                  <c:v>2.25</c:v>
                </c:pt>
                <c:pt idx="3">
                  <c:v>2.2400000000000002</c:v>
                </c:pt>
                <c:pt idx="4">
                  <c:v>2.13</c:v>
                </c:pt>
                <c:pt idx="5">
                  <c:v>2.0099999999999998</c:v>
                </c:pt>
                <c:pt idx="6">
                  <c:v>1.68</c:v>
                </c:pt>
                <c:pt idx="7">
                  <c:v>1.28</c:v>
                </c:pt>
                <c:pt idx="8">
                  <c:v>0.3</c:v>
                </c:pt>
                <c:pt idx="9">
                  <c:v>0.03</c:v>
                </c:pt>
                <c:pt idx="10">
                  <c:v>3.0000000000000001E-3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D9F-44FF-9533-769EA2885D6A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700 kWh/m² cut-off</c:v>
                </c:pt>
              </c:strCache>
            </c:strRef>
          </c:tx>
          <c:spPr>
            <a:ln w="22225">
              <a:solidFill>
                <a:srgbClr val="000000"/>
              </a:solidFill>
              <a:prstDash val="dash"/>
            </a:ln>
          </c:spPr>
          <c:marker>
            <c:symbol val="none"/>
          </c:marker>
          <c:xVal>
            <c:numRef>
              <c:f>Sheet1!$B$2:$B$17</c:f>
              <c:numCache>
                <c:formatCode>General</c:formatCode>
                <c:ptCount val="16"/>
                <c:pt idx="0">
                  <c:v>700</c:v>
                </c:pt>
                <c:pt idx="1">
                  <c:v>700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xVal>
          <c:yVal>
            <c:numRef>
              <c:f>Sheet1!$D$2:$D$17</c:f>
              <c:numCache>
                <c:formatCode>General</c:formatCode>
                <c:ptCount val="16"/>
                <c:pt idx="0">
                  <c:v>0</c:v>
                </c:pt>
                <c:pt idx="1">
                  <c:v>2.4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D9F-44FF-9533-769EA2885D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"/>
        <c:axId val="12"/>
      </c:scatterChart>
      <c:valAx>
        <c:axId val="11"/>
        <c:scaling>
          <c:orientation val="minMax"/>
          <c:max val="1500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sz="1400" b="1"/>
                </a:pPr>
                <a:r>
                  <a:rPr lang="en-US" sz="1400" b="1"/>
                  <a:t>Lower Limit (kWh/m²)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2"/>
        <c:crosses val="autoZero"/>
        <c:crossBetween val="midCat"/>
        <c:majorUnit val="100"/>
      </c:valAx>
      <c:valAx>
        <c:axId val="12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EUI (kBtu/ft²)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1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BIPV Module Area (ft²)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BIPV Module Area (ft²)</c:v>
          </c:tx>
          <c:spPr>
            <a:ln w="28575" cap="rnd">
              <a:solidFill>
                <a:srgbClr val="404040"/>
              </a:solidFill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solidFill>
                  <a:srgbClr val="404040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43676</c:v>
              </c:pt>
              <c:pt idx="1">
                <c:v>37081</c:v>
              </c:pt>
              <c:pt idx="2">
                <c:v>36277</c:v>
              </c:pt>
              <c:pt idx="3">
                <c:v>35855</c:v>
              </c:pt>
              <c:pt idx="4">
                <c:v>32649</c:v>
              </c:pt>
              <c:pt idx="5">
                <c:v>30014</c:v>
              </c:pt>
              <c:pt idx="6">
                <c:v>23766</c:v>
              </c:pt>
              <c:pt idx="7">
                <c:v>17407</c:v>
              </c:pt>
              <c:pt idx="8">
                <c:v>3824</c:v>
              </c:pt>
              <c:pt idx="9">
                <c:v>440</c:v>
              </c:pt>
              <c:pt idx="10">
                <c:v>79</c:v>
              </c:pt>
              <c:pt idx="11">
                <c:v>52</c:v>
              </c:pt>
              <c:pt idx="12">
                <c:v>52</c:v>
              </c:pt>
              <c:pt idx="13">
                <c:v>52</c:v>
              </c:pt>
              <c:pt idx="14">
                <c:v>52</c:v>
              </c:pt>
              <c:pt idx="15">
                <c:v>52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B50E-4DDB-A5C6-9A2EA5B138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"/>
        <c:axId val="101"/>
      </c:scatterChart>
      <c:valAx>
        <c:axId val="100"/>
        <c:scaling>
          <c:orientation val="minMax"/>
          <c:max val="1500"/>
          <c:min val="0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1"/>
        <c:crosses val="autoZero"/>
        <c:crossBetween val="midCat"/>
        <c:majorUnit val="500"/>
      </c:valAx>
      <c:valAx>
        <c:axId val="101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0"/>
        <c:crosses val="autoZero"/>
        <c:crossBetween val="midCat"/>
      </c:valAx>
    </c:plotArea>
    <c:plotVisOnly val="1"/>
    <c:dispBlanksAs val="gap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BIPV DC Capacity (kW)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BIPV DC Capacity (kW)</c:v>
          </c:tx>
          <c:spPr>
            <a:ln w="28575" cap="rnd">
              <a:solidFill>
                <a:srgbClr val="404040"/>
              </a:solidFill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solidFill>
                  <a:srgbClr val="404040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324.60000000000002</c:v>
              </c:pt>
              <c:pt idx="1">
                <c:v>275.60000000000002</c:v>
              </c:pt>
              <c:pt idx="2">
                <c:v>269.5</c:v>
              </c:pt>
              <c:pt idx="3">
                <c:v>266.39999999999998</c:v>
              </c:pt>
              <c:pt idx="4">
                <c:v>242.5</c:v>
              </c:pt>
              <c:pt idx="5">
                <c:v>222.9</c:v>
              </c:pt>
              <c:pt idx="6">
                <c:v>176.4</c:v>
              </c:pt>
              <c:pt idx="7">
                <c:v>129.1</c:v>
              </c:pt>
              <c:pt idx="8">
                <c:v>28.2</c:v>
              </c:pt>
              <c:pt idx="9">
                <c:v>2.9</c:v>
              </c:pt>
              <c:pt idx="10">
                <c:v>0.2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DAA0-413A-B2C8-24163C0593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"/>
        <c:axId val="103"/>
      </c:scatterChart>
      <c:valAx>
        <c:axId val="102"/>
        <c:scaling>
          <c:orientation val="minMax"/>
          <c:max val="1500"/>
          <c:min val="0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3"/>
        <c:crosses val="autoZero"/>
        <c:crossBetween val="midCat"/>
        <c:majorUnit val="500"/>
      </c:valAx>
      <c:valAx>
        <c:axId val="103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2"/>
        <c:crosses val="autoZero"/>
        <c:crossBetween val="midCat"/>
      </c:valAx>
    </c:plotArea>
    <c:plotVisOnly val="1"/>
    <c:dispBlanksAs val="gap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BIPV Production Potential (kWh)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BIPV Production Potential (kWh)</c:v>
          </c:tx>
          <c:spPr>
            <a:ln w="28575" cap="rnd">
              <a:solidFill>
                <a:srgbClr val="404040"/>
              </a:solidFill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solidFill>
                  <a:srgbClr val="404040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149671</c:v>
              </c:pt>
              <c:pt idx="1">
                <c:v>148841</c:v>
              </c:pt>
              <c:pt idx="2">
                <c:v>148160</c:v>
              </c:pt>
              <c:pt idx="3">
                <c:v>147456</c:v>
              </c:pt>
              <c:pt idx="4">
                <c:v>140214</c:v>
              </c:pt>
              <c:pt idx="5">
                <c:v>132526</c:v>
              </c:pt>
              <c:pt idx="6">
                <c:v>111033</c:v>
              </c:pt>
              <c:pt idx="7">
                <c:v>84723</c:v>
              </c:pt>
              <c:pt idx="8">
                <c:v>20179</c:v>
              </c:pt>
              <c:pt idx="9">
                <c:v>2360</c:v>
              </c:pt>
              <c:pt idx="10">
                <c:v>201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80A9-449D-8289-712C13744E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4"/>
        <c:axId val="105"/>
      </c:scatterChart>
      <c:valAx>
        <c:axId val="104"/>
        <c:scaling>
          <c:orientation val="minMax"/>
          <c:max val="1500"/>
          <c:min val="0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5"/>
        <c:crosses val="autoZero"/>
        <c:crossBetween val="midCat"/>
        <c:majorUnit val="500"/>
      </c:valAx>
      <c:valAx>
        <c:axId val="105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4"/>
        <c:crosses val="autoZero"/>
        <c:crossBetween val="midCat"/>
      </c:valAx>
    </c:plotArea>
    <c:plotVisOnly val="1"/>
    <c:dispBlanksAs val="gap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Production Potential (kWh/Area)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Production Potential (kWh/Area)</c:v>
          </c:tx>
          <c:spPr>
            <a:ln w="28575" cap="rnd">
              <a:solidFill>
                <a:srgbClr val="404040"/>
              </a:solidFill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solidFill>
                  <a:srgbClr val="404040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3.4</c:v>
              </c:pt>
              <c:pt idx="1">
                <c:v>4</c:v>
              </c:pt>
              <c:pt idx="2">
                <c:v>4.0999999999999996</c:v>
              </c:pt>
              <c:pt idx="3">
                <c:v>4.0999999999999996</c:v>
              </c:pt>
              <c:pt idx="4">
                <c:v>4.3</c:v>
              </c:pt>
              <c:pt idx="5">
                <c:v>4.4000000000000004</c:v>
              </c:pt>
              <c:pt idx="6">
                <c:v>4.7</c:v>
              </c:pt>
              <c:pt idx="7">
                <c:v>4.9000000000000004</c:v>
              </c:pt>
              <c:pt idx="8">
                <c:v>5.3</c:v>
              </c:pt>
              <c:pt idx="9">
                <c:v>5.4</c:v>
              </c:pt>
              <c:pt idx="10">
                <c:v>2.5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D03D-4B8C-AFE5-834A36592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"/>
        <c:axId val="107"/>
      </c:scatterChart>
      <c:valAx>
        <c:axId val="106"/>
        <c:scaling>
          <c:orientation val="minMax"/>
          <c:max val="1500"/>
          <c:min val="0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7"/>
        <c:crosses val="autoZero"/>
        <c:crossBetween val="midCat"/>
        <c:majorUnit val="500"/>
      </c:valAx>
      <c:valAx>
        <c:axId val="107"/>
        <c:scaling>
          <c:orientation val="minMax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6"/>
        <c:crosses val="autoZero"/>
        <c:crossBetween val="midCat"/>
      </c:valAx>
    </c:plotArea>
    <c:plotVisOnly val="1"/>
    <c:dispBlanksAs val="gap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EUI Offset (kBtu/sq.ft)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EUI Offset (kBtu/sq.ft)</c:v>
          </c:tx>
          <c:spPr>
            <a:ln w="28575" cap="rnd">
              <a:solidFill>
                <a:srgbClr val="404040"/>
              </a:solidFill>
              <a:round/>
            </a:ln>
          </c:spPr>
          <c:marker>
            <c:symbol val="circle"/>
            <c:size val="4"/>
            <c:spPr>
              <a:solidFill>
                <a:srgbClr val="404040"/>
              </a:solidFill>
              <a:ln>
                <a:solidFill>
                  <a:srgbClr val="404040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2.27</c:v>
              </c:pt>
              <c:pt idx="1">
                <c:v>2.2599999999999998</c:v>
              </c:pt>
              <c:pt idx="2">
                <c:v>2.25</c:v>
              </c:pt>
              <c:pt idx="3">
                <c:v>2.2400000000000002</c:v>
              </c:pt>
              <c:pt idx="4">
                <c:v>2.13</c:v>
              </c:pt>
              <c:pt idx="5">
                <c:v>2.0099999999999998</c:v>
              </c:pt>
              <c:pt idx="6">
                <c:v>1.68</c:v>
              </c:pt>
              <c:pt idx="7">
                <c:v>1.28</c:v>
              </c:pt>
              <c:pt idx="8">
                <c:v>0.3</c:v>
              </c:pt>
              <c:pt idx="9">
                <c:v>0.03</c:v>
              </c:pt>
              <c:pt idx="10">
                <c:v>3.0000000000000001E-3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1293-43D0-BD98-8043DA86B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"/>
        <c:axId val="109"/>
      </c:scatterChart>
      <c:valAx>
        <c:axId val="108"/>
        <c:scaling>
          <c:orientation val="minMax"/>
          <c:max val="1500"/>
          <c:min val="0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9"/>
        <c:crosses val="autoZero"/>
        <c:crossBetween val="midCat"/>
        <c:majorUnit val="500"/>
      </c:valAx>
      <c:valAx>
        <c:axId val="109"/>
        <c:scaling>
          <c:orientation val="minMax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08"/>
        <c:crosses val="autoZero"/>
        <c:crossBetween val="midCat"/>
      </c:valAx>
    </c:plotArea>
    <c:plotVisOnly val="1"/>
    <c:dispBlanksAs val="gap"/>
    <c:showDLblsOverMax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/>
              <a:t>Module Area vs DC Capacity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BIPV Module Area (ft²)</c:v>
          </c:tx>
          <c:spPr>
            <a:ln w="31750" cap="rnd">
              <a:solidFill>
                <a:srgbClr val="1A1A1A"/>
              </a:solidFill>
              <a:round/>
            </a:ln>
          </c:spPr>
          <c:marker>
            <c:symbol val="circle"/>
            <c:size val="6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43676</c:v>
              </c:pt>
              <c:pt idx="1">
                <c:v>37081</c:v>
              </c:pt>
              <c:pt idx="2">
                <c:v>36277</c:v>
              </c:pt>
              <c:pt idx="3">
                <c:v>35855</c:v>
              </c:pt>
              <c:pt idx="4">
                <c:v>32649</c:v>
              </c:pt>
              <c:pt idx="5">
                <c:v>30014</c:v>
              </c:pt>
              <c:pt idx="6">
                <c:v>23766</c:v>
              </c:pt>
              <c:pt idx="7">
                <c:v>17407</c:v>
              </c:pt>
              <c:pt idx="8">
                <c:v>3824</c:v>
              </c:pt>
              <c:pt idx="9">
                <c:v>440</c:v>
              </c:pt>
              <c:pt idx="10">
                <c:v>79</c:v>
              </c:pt>
              <c:pt idx="11">
                <c:v>52</c:v>
              </c:pt>
              <c:pt idx="12">
                <c:v>52</c:v>
              </c:pt>
              <c:pt idx="13">
                <c:v>52</c:v>
              </c:pt>
              <c:pt idx="14">
                <c:v>52</c:v>
              </c:pt>
              <c:pt idx="15">
                <c:v>52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9F7C-4520-A6DC-FC227527D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"/>
        <c:axId val="12"/>
      </c:scatterChart>
      <c:scatterChart>
        <c:scatterStyle val="lineMarker"/>
        <c:varyColors val="0"/>
        <c:ser>
          <c:idx val="1"/>
          <c:order val="1"/>
          <c:tx>
            <c:v>BIPV DC Capacity (kW)</c:v>
          </c:tx>
          <c:spPr>
            <a:ln w="31750" cap="rnd">
              <a:solidFill>
                <a:srgbClr val="808080"/>
              </a:solidFill>
              <a:prstDash val="dash"/>
              <a:round/>
            </a:ln>
          </c:spPr>
          <c:marker>
            <c:symbol val="square"/>
            <c:size val="6"/>
            <c:spPr>
              <a:solidFill>
                <a:srgbClr val="808080"/>
              </a:solidFill>
              <a:ln>
                <a:solidFill>
                  <a:srgbClr val="808080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324.60000000000002</c:v>
              </c:pt>
              <c:pt idx="1">
                <c:v>275.60000000000002</c:v>
              </c:pt>
              <c:pt idx="2">
                <c:v>269.5</c:v>
              </c:pt>
              <c:pt idx="3">
                <c:v>266.39999999999998</c:v>
              </c:pt>
              <c:pt idx="4">
                <c:v>242.5</c:v>
              </c:pt>
              <c:pt idx="5">
                <c:v>222.9</c:v>
              </c:pt>
              <c:pt idx="6">
                <c:v>176.4</c:v>
              </c:pt>
              <c:pt idx="7">
                <c:v>129.1</c:v>
              </c:pt>
              <c:pt idx="8">
                <c:v>28.2</c:v>
              </c:pt>
              <c:pt idx="9">
                <c:v>2.9</c:v>
              </c:pt>
              <c:pt idx="10">
                <c:v>0.2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9F7C-4520-A6DC-FC227527D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"/>
        <c:axId val="14"/>
      </c:scatterChart>
      <c:valAx>
        <c:axId val="11"/>
        <c:scaling>
          <c:orientation val="minMax"/>
          <c:max val="1500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sz="1400" b="1"/>
                </a:pPr>
                <a:r>
                  <a:rPr lang="en-US" sz="1400" b="1"/>
                  <a:t>Lower Limit (kWh/m²)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2"/>
        <c:crosses val="autoZero"/>
        <c:crossBetween val="midCat"/>
        <c:majorUnit val="300"/>
      </c:valAx>
      <c:valAx>
        <c:axId val="12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Module Area (ft²)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1"/>
        <c:crosses val="autoZero"/>
        <c:crossBetween val="midCat"/>
      </c:valAx>
      <c:valAx>
        <c:axId val="14"/>
        <c:scaling>
          <c:orientation val="minMax"/>
          <c:min val="0"/>
        </c:scaling>
        <c:delete val="0"/>
        <c:axPos val="r"/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DC Capacity (kW)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3"/>
        <c:crosses val="max"/>
        <c:crossBetween val="midCat"/>
      </c:valAx>
      <c:valAx>
        <c:axId val="13"/>
        <c:scaling>
          <c:orientation val="minMax"/>
          <c:max val="1500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4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/>
              <a:t>Production Potential vs kWh/Area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BIPV Production Potential (kWh)</c:v>
          </c:tx>
          <c:spPr>
            <a:ln w="31750" cap="rnd">
              <a:solidFill>
                <a:srgbClr val="1A1A1A"/>
              </a:solidFill>
              <a:round/>
            </a:ln>
          </c:spPr>
          <c:marker>
            <c:symbol val="circle"/>
            <c:size val="6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149671</c:v>
              </c:pt>
              <c:pt idx="1">
                <c:v>148841</c:v>
              </c:pt>
              <c:pt idx="2">
                <c:v>148160</c:v>
              </c:pt>
              <c:pt idx="3">
                <c:v>147456</c:v>
              </c:pt>
              <c:pt idx="4">
                <c:v>140214</c:v>
              </c:pt>
              <c:pt idx="5">
                <c:v>132526</c:v>
              </c:pt>
              <c:pt idx="6">
                <c:v>111033</c:v>
              </c:pt>
              <c:pt idx="7">
                <c:v>84723</c:v>
              </c:pt>
              <c:pt idx="8">
                <c:v>20179</c:v>
              </c:pt>
              <c:pt idx="9">
                <c:v>2360</c:v>
              </c:pt>
              <c:pt idx="10">
                <c:v>201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C10D-4E0E-8BAD-7121D698E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"/>
        <c:axId val="12"/>
      </c:scatterChart>
      <c:scatterChart>
        <c:scatterStyle val="lineMarker"/>
        <c:varyColors val="0"/>
        <c:ser>
          <c:idx val="1"/>
          <c:order val="1"/>
          <c:tx>
            <c:v>Production (kWh/Area)</c:v>
          </c:tx>
          <c:spPr>
            <a:ln w="31750" cap="rnd">
              <a:solidFill>
                <a:srgbClr val="808080"/>
              </a:solidFill>
              <a:prstDash val="dash"/>
              <a:round/>
            </a:ln>
          </c:spPr>
          <c:marker>
            <c:symbol val="square"/>
            <c:size val="6"/>
            <c:spPr>
              <a:solidFill>
                <a:srgbClr val="808080"/>
              </a:solidFill>
              <a:ln>
                <a:solidFill>
                  <a:srgbClr val="808080"/>
                </a:solidFill>
              </a:ln>
            </c:spPr>
          </c:marker>
          <c:xVal>
            <c:numLit>
              <c:formatCode>General</c:formatCode>
              <c:ptCount val="16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  <c:pt idx="11">
                <c:v>1100</c:v>
              </c:pt>
              <c:pt idx="12">
                <c:v>1200</c:v>
              </c:pt>
              <c:pt idx="13">
                <c:v>1300</c:v>
              </c:pt>
              <c:pt idx="14">
                <c:v>1400</c:v>
              </c:pt>
              <c:pt idx="15">
                <c:v>1500</c:v>
              </c:pt>
            </c:numLit>
          </c:xVal>
          <c:yVal>
            <c:numLit>
              <c:formatCode>General</c:formatCode>
              <c:ptCount val="16"/>
              <c:pt idx="0">
                <c:v>3.4</c:v>
              </c:pt>
              <c:pt idx="1">
                <c:v>4</c:v>
              </c:pt>
              <c:pt idx="2">
                <c:v>4.0999999999999996</c:v>
              </c:pt>
              <c:pt idx="3">
                <c:v>4.0999999999999996</c:v>
              </c:pt>
              <c:pt idx="4">
                <c:v>4.3</c:v>
              </c:pt>
              <c:pt idx="5">
                <c:v>4.4000000000000004</c:v>
              </c:pt>
              <c:pt idx="6">
                <c:v>4.7</c:v>
              </c:pt>
              <c:pt idx="7">
                <c:v>4.9000000000000004</c:v>
              </c:pt>
              <c:pt idx="8">
                <c:v>5.3</c:v>
              </c:pt>
              <c:pt idx="9">
                <c:v>5.4</c:v>
              </c:pt>
              <c:pt idx="10">
                <c:v>2.5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C10D-4E0E-8BAD-7121D698E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"/>
        <c:axId val="14"/>
      </c:scatterChart>
      <c:valAx>
        <c:axId val="11"/>
        <c:scaling>
          <c:orientation val="minMax"/>
          <c:max val="1500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sz="1400" b="1"/>
                </a:pPr>
                <a:r>
                  <a:rPr lang="en-US" sz="1400" b="1"/>
                  <a:t>Lower Limit (kWh/m²)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2"/>
        <c:crosses val="autoZero"/>
        <c:crossBetween val="midCat"/>
        <c:majorUnit val="300"/>
      </c:valAx>
      <c:valAx>
        <c:axId val="12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Production (kWh)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1"/>
        <c:crosses val="autoZero"/>
        <c:crossBetween val="midCat"/>
      </c:valAx>
      <c:valAx>
        <c:axId val="14"/>
        <c:scaling>
          <c:orientation val="minMax"/>
          <c:min val="0"/>
        </c:scaling>
        <c:delete val="0"/>
        <c:axPos val="r"/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kWh/Area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3"/>
        <c:crosses val="max"/>
        <c:crossBetween val="midCat"/>
      </c:valAx>
      <c:valAx>
        <c:axId val="13"/>
        <c:scaling>
          <c:orientation val="minMax"/>
          <c:max val="1500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4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500" b="1"/>
            </a:pPr>
            <a:r>
              <a:rPr lang="en-US" sz="1500" b="1"/>
              <a:t>EUI Offset vs Lower Limit — 700 kWh/m² cut-off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BIPV EUI Offset (kBtu/sq.ft)</c:v>
                </c:pt>
              </c:strCache>
            </c:strRef>
          </c:tx>
          <c:spPr>
            <a:ln w="31750" cap="rnd">
              <a:solidFill>
                <a:srgbClr val="1A1A1A"/>
              </a:solidFill>
              <a:round/>
            </a:ln>
          </c:spPr>
          <c:marker>
            <c:symbol val="circle"/>
            <c:size val="6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dPt>
            <c:idx val="7"/>
            <c:marker>
              <c:symbol val="diamond"/>
              <c:size val="13"/>
              <c:spPr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F77-4BC1-8843-2DA336EFFB58}"/>
              </c:ext>
            </c:extLst>
          </c:dPt>
          <c:xVal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</c:numCache>
            </c:numRef>
          </c:xVal>
          <c:yVal>
            <c:numRef>
              <c:f>Sheet1!$C$2:$C$17</c:f>
              <c:numCache>
                <c:formatCode>General</c:formatCode>
                <c:ptCount val="16"/>
                <c:pt idx="0">
                  <c:v>2.27</c:v>
                </c:pt>
                <c:pt idx="1">
                  <c:v>2.2599999999999998</c:v>
                </c:pt>
                <c:pt idx="2">
                  <c:v>2.25</c:v>
                </c:pt>
                <c:pt idx="3">
                  <c:v>2.2400000000000002</c:v>
                </c:pt>
                <c:pt idx="4">
                  <c:v>2.13</c:v>
                </c:pt>
                <c:pt idx="5">
                  <c:v>2.0099999999999998</c:v>
                </c:pt>
                <c:pt idx="6">
                  <c:v>1.68</c:v>
                </c:pt>
                <c:pt idx="7">
                  <c:v>1.28</c:v>
                </c:pt>
                <c:pt idx="8">
                  <c:v>0.3</c:v>
                </c:pt>
                <c:pt idx="9">
                  <c:v>0.03</c:v>
                </c:pt>
                <c:pt idx="10">
                  <c:v>3.0000000000000001E-3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F77-4BC1-8843-2DA336EFFB58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700 kWh/m² cut-off</c:v>
                </c:pt>
              </c:strCache>
            </c:strRef>
          </c:tx>
          <c:spPr>
            <a:ln w="22225">
              <a:solidFill>
                <a:srgbClr val="000000"/>
              </a:solidFill>
              <a:prstDash val="dash"/>
            </a:ln>
          </c:spPr>
          <c:marker>
            <c:symbol val="none"/>
          </c:marker>
          <c:xVal>
            <c:numRef>
              <c:f>Sheet1!$B$2:$B$17</c:f>
              <c:numCache>
                <c:formatCode>General</c:formatCode>
                <c:ptCount val="16"/>
                <c:pt idx="0">
                  <c:v>700</c:v>
                </c:pt>
                <c:pt idx="1">
                  <c:v>700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xVal>
          <c:yVal>
            <c:numRef>
              <c:f>Sheet1!$D$2:$D$17</c:f>
              <c:numCache>
                <c:formatCode>General</c:formatCode>
                <c:ptCount val="16"/>
                <c:pt idx="0">
                  <c:v>0</c:v>
                </c:pt>
                <c:pt idx="1">
                  <c:v>2.4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F77-4BC1-8843-2DA336EFF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"/>
        <c:axId val="12"/>
      </c:scatterChart>
      <c:valAx>
        <c:axId val="11"/>
        <c:scaling>
          <c:orientation val="minMax"/>
          <c:max val="1500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sz="1400" b="1"/>
                </a:pPr>
                <a:r>
                  <a:rPr lang="en-US" sz="1400" b="1"/>
                  <a:t>Lower Limit (kWh/m²)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2"/>
        <c:crosses val="autoZero"/>
        <c:crossBetween val="midCat"/>
        <c:majorUnit val="100"/>
      </c:valAx>
      <c:valAx>
        <c:axId val="12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sz="1400" b="1"/>
                </a:pPr>
                <a:r>
                  <a:rPr lang="en-US" sz="1400" b="1"/>
                  <a:t>EUI (kBtu/ft²)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1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EUI Offset vs kWh/Area</c:v>
          </c:tx>
          <c:spPr>
            <a:ln w="28575" cap="rnd">
              <a:solidFill>
                <a:srgbClr val="404040"/>
              </a:solidFill>
              <a:round/>
            </a:ln>
          </c:spPr>
          <c:marker>
            <c:symbol val="circle"/>
            <c:size val="6"/>
            <c:spPr>
              <a:solidFill>
                <a:srgbClr val="404040"/>
              </a:solidFill>
              <a:ln w="9525">
                <a:solidFill>
                  <a:srgbClr val="404040"/>
                </a:solidFill>
              </a:ln>
            </c:spPr>
          </c:marker>
          <c:xVal>
            <c:numLit>
              <c:formatCode>General</c:formatCode>
              <c:ptCount val="11"/>
              <c:pt idx="0">
                <c:v>2.5</c:v>
              </c:pt>
              <c:pt idx="1">
                <c:v>3.4</c:v>
              </c:pt>
              <c:pt idx="2">
                <c:v>4</c:v>
              </c:pt>
              <c:pt idx="3">
                <c:v>4.0999999999999996</c:v>
              </c:pt>
              <c:pt idx="4">
                <c:v>4.0999999999999996</c:v>
              </c:pt>
              <c:pt idx="5">
                <c:v>4.3</c:v>
              </c:pt>
              <c:pt idx="6">
                <c:v>4.4000000000000004</c:v>
              </c:pt>
              <c:pt idx="7">
                <c:v>4.7</c:v>
              </c:pt>
              <c:pt idx="8">
                <c:v>4.9000000000000004</c:v>
              </c:pt>
              <c:pt idx="9">
                <c:v>5.3</c:v>
              </c:pt>
              <c:pt idx="10">
                <c:v>5.4</c:v>
              </c:pt>
            </c:numLit>
          </c:xVal>
          <c:yVal>
            <c:numLit>
              <c:formatCode>General</c:formatCode>
              <c:ptCount val="11"/>
              <c:pt idx="0">
                <c:v>3.0000000000000001E-3</c:v>
              </c:pt>
              <c:pt idx="1">
                <c:v>2.27</c:v>
              </c:pt>
              <c:pt idx="2">
                <c:v>2.2599999999999998</c:v>
              </c:pt>
              <c:pt idx="3">
                <c:v>2.25</c:v>
              </c:pt>
              <c:pt idx="4">
                <c:v>2.2400000000000002</c:v>
              </c:pt>
              <c:pt idx="5">
                <c:v>2.13</c:v>
              </c:pt>
              <c:pt idx="6">
                <c:v>2.0099999999999998</c:v>
              </c:pt>
              <c:pt idx="7">
                <c:v>1.68</c:v>
              </c:pt>
              <c:pt idx="8">
                <c:v>1.28</c:v>
              </c:pt>
              <c:pt idx="9">
                <c:v>0.3</c:v>
              </c:pt>
              <c:pt idx="10">
                <c:v>0.03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1EC3-4590-BFB1-B74BCEE72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"/>
        <c:axId val="52"/>
      </c:scatterChart>
      <c:valAx>
        <c:axId val="51"/>
        <c:scaling>
          <c:orientation val="minMax"/>
          <c:max val="6"/>
          <c:min val="0"/>
        </c:scaling>
        <c:delete val="0"/>
        <c:axPos val="b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400" b="1"/>
                </a:pPr>
                <a:r>
                  <a:rPr lang="en-US" sz="1400" b="1"/>
                  <a:t>BIPV Production Intensity (kWh/Area)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2"/>
        <c:crosses val="autoZero"/>
        <c:crossBetween val="midCat"/>
        <c:majorUnit val="1"/>
      </c:valAx>
      <c:valAx>
        <c:axId val="52"/>
        <c:scaling>
          <c:orientation val="minMax"/>
          <c:max val="2.5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 b="1"/>
                </a:pPr>
                <a:r>
                  <a:rPr lang="en-US" sz="1400" b="1"/>
                  <a:t>EUI Offset (kBtu/ft²)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"/>
        <c:crosses val="autoZero"/>
        <c:crossBetween val="midCat"/>
        <c:majorUnit val="0.5"/>
      </c:valAx>
    </c:plotArea>
    <c:plotVisOnly val="1"/>
    <c:dispBlanksAs val="gap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CC705-769F-4465-8775-92BD2AC05DA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3E05C-7DFF-445B-BB34-845A862FA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35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r.gov/analysis/cambium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95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E7E5B-E250-EF81-2D5C-56BEA8E3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9C012-BAC3-0B3D-9A9D-4E1959E45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38C79-1CF2-3950-69B4-8DDF79F6F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ttps://www.nlr.gov/analysis/cambium"/>
              </a:rPr>
              <a:t>https://www.nlr.gov/analysis/cambium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Cambium | Energy Systems Analysis | NLR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F2CC8-6ABE-C945-CBF9-79C388337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91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50495-7B75-8B3C-71A0-9630C1A8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E08DF-2398-134D-A505-F7C497D43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02A86-802A-B15B-E639-1E4C495A5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units on both end or mention what are the units. Add values on slide 3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2FDB9-2C29-8662-9497-2EA573992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30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50495-7B75-8B3C-71A0-9630C1A8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E08DF-2398-134D-A505-F7C497D43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02A86-802A-B15B-E639-1E4C495A5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units on both end or mention what are the units. Add values on slide 3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2FDB9-2C29-8662-9497-2EA573992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30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BB9B-A945-3CDA-6B9F-6D306361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1B4BB-A295-3EDC-A8C8-5E7CE9E97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8E1EE6-41B1-2936-8FD1-D26492982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Combine graphic and text into 1 graphic </a:t>
            </a:r>
          </a:p>
          <a:p>
            <a:r>
              <a:rPr lang="en-US"/>
              <a:t>C:\Users\upawar\CannonDesign\Mumbai Office - Mumbai Sustainability\11_SUNY\Project Files\Reference\Images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B2433-1A12-969C-A127-E7E8F2B32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35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E5EE-4491-4FE8-39EF-9F98A6E9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B2346-D709-12C7-FA55-8E01F8E75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0B686-A125-0CA4-2CEB-712C41255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A09A2-902A-0024-4018-CFD04A132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49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94FF-1E41-E3E4-2E5D-0F99F8B2C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E2AB0-BFEC-4B69-FA52-7F87DCBCE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75B38-22C9-5B0C-F159-9C8600D37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4AE50-40E1-AF00-EFC3-7E6C43B74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51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D7C6E-641D-D1D5-69DB-65481FFCC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63DBD-5A11-9642-D76D-A0B946151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E493A-8314-0840-DCE4-3D89968CD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800C5-7A52-D561-AF37-5A878A03F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98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007E-8238-69BD-9C85-2BA29A7A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6407B-1FFA-3E0A-7867-A77266C9B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71073-5D12-BA5E-2E5E-DF7091D49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837AA-B5E8-1BF7-D922-0B4BCB995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07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007E-8238-69BD-9C85-2BA29A7A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6407B-1FFA-3E0A-7867-A77266C9B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71073-5D12-BA5E-2E5E-DF7091D49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837AA-B5E8-1BF7-D922-0B4BCB995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07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007E-8238-69BD-9C85-2BA29A7A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6407B-1FFA-3E0A-7867-A77266C9B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71073-5D12-BA5E-2E5E-DF7091D49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837AA-B5E8-1BF7-D922-0B4BCB995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07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DD60-BFA9-DC86-652B-DAC8AD57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17B0B-0C0A-7DDA-6EA8-6D63AB6C7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197FA-8D69-A1F3-5079-720461FEA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89036-0F86-12E8-8914-37A7A9660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3E05C-7DFF-445B-BB34-845A862FAA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5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3A8A-E05F-C3F6-AD1D-C65CA7E27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6F49F-A4C1-347D-9BD9-A4C3E64E7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70242-825A-207B-7A85-6842AF0A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B706-D170-0501-D2CD-3C567CA2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109E8-023D-8DBA-4933-456D3100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53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F09C-24B0-6856-B206-E6B9CB38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7337-EF9F-07D9-FE14-688964D30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6118E-E7D1-ABD9-C2B0-DDBF46DB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78766-C6D1-0AA2-D621-28E45E3C1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24122-2432-6552-8DF4-00CB0C87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3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2AFC-4DBD-8668-80B6-7E921DD43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DE7BB-A400-0B09-F1A8-D4D601C6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53D5D-707D-32CD-2EDD-4D541FD1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7960-FE08-F59B-E465-38CAAB5F2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9099-2035-6AE3-3AA2-0553E1973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0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405C-7DB2-FCE4-D6A3-38560C6D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18A6-2948-2A92-1208-51F75E228B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9C0C8-70CF-EA9E-AC88-C18ED9F23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41D58-0B08-FBEA-2CD9-C059A40D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C72F3-D195-97D2-E075-B86A872F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78554-6566-D399-C155-9C70848F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4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008F-2C3D-59BB-2B81-8F1D6AF7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D9C1C-7255-BC8F-111F-2F872514C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7D5E3-47BC-753E-ACC8-9612C538C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25CCA-1F06-FD6D-487B-249426E34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CD83B3-5CFA-ED72-B3AA-DC34203EE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0DD3E-7068-B0AE-E937-B3C9C8D9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E7063E-4C01-EBB2-9DE7-E267F754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7B05F-FB96-E779-E253-A95CA1C2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3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2F4A-6D31-9B01-EE0A-FAF7C8CF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3C553-C8D8-57A4-E469-9BA471F71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12B8E-2AE2-1223-3FB7-D27574CE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181D8-111E-E2AD-E31E-A652DC49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9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8C121-A335-B2D8-8003-16AB03B4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82222-5D82-C075-EB02-4FDDB3A8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89533-C1F5-5640-ED0A-2B33E481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7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D5D7-DE3E-6FE6-CC48-ECBE44BB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235D0-4783-38DB-14CC-D4EE8EF3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4D742-FAF0-7755-D6D0-4DD647816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2094A-C8BD-66E1-79E3-75F4DAC1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77D87-0746-1545-0BC6-DC5991B2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7D6C3-B1EF-4FFC-F089-4FEAA5B0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35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0AE7-7CC6-C38D-BEA7-D8C4B3664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61207-57CA-AB00-DDBF-7C4C9A3273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A23D4-03D3-7D93-AF98-1CC294402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5D28E-7B26-C4AE-37C6-0DFEC696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FD078-048E-20BE-CCE1-E966AFFA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857F9-23D9-F26E-74E7-1F11C478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8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10CDB-DAD2-C83F-FF10-5F49C184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A5D3D-8396-4682-C3BA-C0DB25693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9E49-82F1-D8F3-2EC4-BFC23F85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3E3C-00B0-FDB2-1288-05BDBFAF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94EBA-8B50-5352-4E53-1B8FD12C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C2F24-3314-F846-113F-EC55F3C11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D34F4-A762-ABCB-80AC-DEEB0647A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8C6F1-8B0F-FFED-F6D4-0D8725A8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B9928-F3B3-31F4-031E-0EE7B589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045F1-2829-AB32-292E-81EDEAD8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94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D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FF3EA8-594B-41E2-923F-052D0BA2B4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264408"/>
            <a:ext cx="3237871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098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. Image. Tex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BF56-1347-EA4E-9EFA-CEEC68FC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Header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3659EF2-78A8-9F44-848E-1FBCA644F8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54503" y="1604097"/>
            <a:ext cx="7337497" cy="5253903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E7D8C2-5086-8349-8B26-BA6F49B816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604096"/>
            <a:ext cx="3992924" cy="4701887"/>
          </a:xfrm>
        </p:spPr>
        <p:txBody>
          <a:bodyPr/>
          <a:lstStyle>
            <a:lvl1pPr marL="0" indent="0">
              <a:buNone/>
              <a:defRPr/>
            </a:lvl1pPr>
            <a:lvl2pPr marL="211950" indent="0">
              <a:buNone/>
              <a:defRPr/>
            </a:lvl2pPr>
            <a:lvl3pPr marL="423898" indent="0">
              <a:buNone/>
              <a:defRPr/>
            </a:lvl3pPr>
            <a:lvl4pPr marL="635846" indent="0">
              <a:buNone/>
              <a:defRPr/>
            </a:lvl4pPr>
            <a:lvl5pPr marL="847795" indent="0">
              <a:buNone/>
              <a:defRPr/>
            </a:lvl5pPr>
          </a:lstStyle>
          <a:p>
            <a:pPr lvl="0"/>
            <a:r>
              <a:rPr lang="en-US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23718600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7AA0B-B836-1DE7-52DB-44772E82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2A5-C1FF-8654-98C6-E9BB1D21B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1571B-43B6-132D-04F5-D99428B44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34404-833B-48DF-B7A3-636EC768504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2A230-8D1F-125E-7CF0-B71912537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B77E5-2572-3BAD-853C-2DDF524BF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4782E-E649-464F-9863-2E577D41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1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ia.gov/opendata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rel.gov/analysis/cambium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0734E1-BBA2-7E6C-A27D-BD04D8B3E71F}"/>
              </a:ext>
            </a:extLst>
          </p:cNvPr>
          <p:cNvSpPr txBox="1">
            <a:spLocks/>
          </p:cNvSpPr>
          <p:nvPr/>
        </p:nvSpPr>
        <p:spPr>
          <a:xfrm>
            <a:off x="820615" y="3857104"/>
            <a:ext cx="7496908" cy="1143105"/>
          </a:xfrm>
          <a:prstGeom prst="rect">
            <a:avLst/>
          </a:prstGeom>
        </p:spPr>
        <p:txBody>
          <a:bodyPr/>
          <a:lstStyle>
            <a:lvl1pPr marL="211948" indent="-211948" algn="l" defTabSz="1059743" rtl="0" eaLnBrk="1" latinLnBrk="0" hangingPunct="1">
              <a:spcBef>
                <a:spcPct val="20000"/>
              </a:spcBef>
              <a:buSzPct val="75000"/>
              <a:buFont typeface="Wingdings" pitchFamily="2" charset="2"/>
              <a:buChar char="§"/>
              <a:defRPr sz="2000" kern="1200" cap="none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3898" indent="-211948" algn="l" defTabSz="1059743" rtl="0" eaLnBrk="1" latinLnBrk="0" hangingPunct="1">
              <a:spcBef>
                <a:spcPct val="20000"/>
              </a:spcBef>
              <a:buSzPct val="75000"/>
              <a:buFont typeface="Courier New" pitchFamily="49" charset="0"/>
              <a:buChar char="o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5846" indent="-211948" algn="l" defTabSz="10597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7794" indent="-211948" algn="l" defTabSz="1059743" rtl="0" eaLnBrk="1" latinLnBrk="0" hangingPunct="1">
              <a:spcBef>
                <a:spcPct val="20000"/>
              </a:spcBef>
              <a:buSzPct val="100000"/>
              <a:buFont typeface="Cambria Math" panose="02040503050406030204" pitchFamily="18" charset="0"/>
              <a:buChar char="⎯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59743" indent="-211948" algn="l" defTabSz="1059743" rtl="0" eaLnBrk="1" latinLnBrk="0" hangingPunct="1">
              <a:spcBef>
                <a:spcPct val="20000"/>
              </a:spcBef>
              <a:buSzPct val="85000"/>
              <a:buFont typeface="System Font Regular"/>
              <a:buChar char="-"/>
              <a:tabLst>
                <a:tab pos="1722084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14294" indent="-264935" algn="l" defTabSz="10597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44166" indent="-264935" algn="l" defTabSz="10597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74038" indent="-264935" algn="l" defTabSz="10597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03910" indent="-264935" algn="l" defTabSz="10597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>
                <a:solidFill>
                  <a:schemeClr val="bg1"/>
                </a:solidFill>
              </a:rPr>
              <a:t>State University of New York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</a:rPr>
              <a:t>Health Science Center at Syracuse</a:t>
            </a:r>
            <a:r>
              <a:rPr lang="en-US" sz="2800" b="1">
                <a:solidFill>
                  <a:schemeClr val="bg1"/>
                </a:solidFill>
              </a:rPr>
              <a:t> </a:t>
            </a:r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83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BEA7-C93D-95DD-E968-1A34EEA6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C666C34D-1461-7808-83B6-AAAB5F09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23" y="381001"/>
            <a:ext cx="11433968" cy="969433"/>
          </a:xfrm>
        </p:spPr>
        <p:txBody>
          <a:bodyPr>
            <a:normAutofit/>
          </a:bodyPr>
          <a:lstStyle/>
          <a:p>
            <a:r>
              <a:rPr lang="en-US" sz="3600" b="1">
                <a:latin typeface="Franklin Gothic Book" panose="020B0503020102020204" pitchFamily="34" charset="0"/>
              </a:rPr>
              <a:t>Climate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92C3-DDCD-8449-F5FF-CA16A0CF66BB}"/>
              </a:ext>
            </a:extLst>
          </p:cNvPr>
          <p:cNvSpPr txBox="1">
            <a:spLocks/>
          </p:cNvSpPr>
          <p:nvPr/>
        </p:nvSpPr>
        <p:spPr>
          <a:xfrm>
            <a:off x="382324" y="1561605"/>
            <a:ext cx="3429388" cy="49153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70234" indent="-270234" algn="l" defTabSz="1351172" rtl="0" eaLnBrk="1" latinLnBrk="0" hangingPunct="1">
              <a:spcBef>
                <a:spcPct val="20000"/>
              </a:spcBef>
              <a:buSzPct val="75000"/>
              <a:buFont typeface="Wingdings" pitchFamily="2" charset="2"/>
              <a:buChar char="§"/>
              <a:defRPr sz="2550" kern="1200" cap="none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470" indent="-270234" algn="l" defTabSz="1351172" rtl="0" eaLnBrk="1" latinLnBrk="0" hangingPunct="1">
              <a:spcBef>
                <a:spcPct val="20000"/>
              </a:spcBef>
              <a:buSzPct val="75000"/>
              <a:buFont typeface="Courier New" pitchFamily="49" charset="0"/>
              <a:buChar char="o"/>
              <a:defRPr sz="229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704" indent="-270234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4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937" indent="-270234" algn="l" defTabSz="1351172" rtl="0" eaLnBrk="1" latinLnBrk="0" hangingPunct="1">
              <a:spcBef>
                <a:spcPct val="20000"/>
              </a:spcBef>
              <a:buSzPct val="100000"/>
              <a:buFont typeface="Cambria Math" panose="02040503050406030204" pitchFamily="18" charset="0"/>
              <a:buChar char="⎯"/>
              <a:defRPr sz="153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1172" indent="-270234" algn="l" defTabSz="1351172" rtl="0" eaLnBrk="1" latinLnBrk="0" hangingPunct="1">
              <a:spcBef>
                <a:spcPct val="20000"/>
              </a:spcBef>
              <a:buSzPct val="85000"/>
              <a:buFont typeface="System Font Regular"/>
              <a:buChar char="-"/>
              <a:tabLst>
                <a:tab pos="2195657" algn="l"/>
              </a:tabLst>
              <a:defRPr sz="153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15725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91312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66898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42485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YEAR 2025</a:t>
            </a: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lt"/>
              <a:cs typeface="+mn-lt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Climate Zone 6A</a:t>
            </a: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lt"/>
              <a:cs typeface="+mn-lt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Temperature + Humidity</a:t>
            </a: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lang="en-US" sz="1000">
                <a:latin typeface="Franklin Gothic Book" panose="020B0503020102020204"/>
                <a:ea typeface="+mn-lt"/>
                <a:cs typeface="+mn-lt"/>
              </a:rPr>
              <a:t>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efined by cold, harsh winters with temperatures regularly falling well below freezing, and moderate to warm summers accompanied by elevated humidity levels. </a:t>
            </a:r>
            <a:r>
              <a:rPr lang="en-US" sz="1000">
                <a:latin typeface="Franklin Gothic Book" panose="020B0503020102020204"/>
                <a:ea typeface="+mn-lt"/>
                <a:cs typeface="+mn-lt"/>
              </a:rPr>
              <a:t>Balance needed between minimizing winter heat loss and avoiding summer overheating.</a:t>
            </a: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Decent potential for NV during shoulder seasons</a:t>
            </a: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Higher insulation requirements. Air sealing is critical to prevent heat loss and moisture infiltration</a:t>
            </a: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lt"/>
              <a:cs typeface="+mn-lt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Rainfall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Consistent rainfall throughout the year, potential for rainwater collection to offset building water use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. </a:t>
            </a: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Wind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Predominantly from the west and southwest throughout the year. High wind speeds at street level impact pedestrian comfort and entrance design. </a:t>
            </a: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183C3-C2EF-74C0-7C33-99FE6B7F0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0" r="35350"/>
          <a:stretch>
            <a:fillRect/>
          </a:stretch>
        </p:blipFill>
        <p:spPr>
          <a:xfrm>
            <a:off x="4059936" y="381000"/>
            <a:ext cx="3822192" cy="609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2E3032-7C5A-6836-D3ED-47DA4596F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1" r="35350"/>
          <a:stretch>
            <a:fillRect/>
          </a:stretch>
        </p:blipFill>
        <p:spPr>
          <a:xfrm>
            <a:off x="8055864" y="381000"/>
            <a:ext cx="3747704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8689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A1AB9-6371-A5FB-1CD3-1D7CEF2F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F5DC326-9C2F-D8E5-C98F-8FE9AF09D025}"/>
              </a:ext>
            </a:extLst>
          </p:cNvPr>
          <p:cNvSpPr txBox="1">
            <a:spLocks/>
          </p:cNvSpPr>
          <p:nvPr/>
        </p:nvSpPr>
        <p:spPr>
          <a:xfrm>
            <a:off x="382324" y="1561605"/>
            <a:ext cx="3429388" cy="3264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70234" indent="-270234" algn="l" defTabSz="1351172" rtl="0" eaLnBrk="1" latinLnBrk="0" hangingPunct="1">
              <a:spcBef>
                <a:spcPct val="20000"/>
              </a:spcBef>
              <a:buSzPct val="75000"/>
              <a:buFont typeface="Wingdings" pitchFamily="2" charset="2"/>
              <a:buChar char="§"/>
              <a:defRPr sz="2550" kern="1200" cap="none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470" indent="-270234" algn="l" defTabSz="1351172" rtl="0" eaLnBrk="1" latinLnBrk="0" hangingPunct="1">
              <a:spcBef>
                <a:spcPct val="20000"/>
              </a:spcBef>
              <a:buSzPct val="75000"/>
              <a:buFont typeface="Courier New" pitchFamily="49" charset="0"/>
              <a:buChar char="o"/>
              <a:defRPr sz="229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704" indent="-270234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4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937" indent="-270234" algn="l" defTabSz="1351172" rtl="0" eaLnBrk="1" latinLnBrk="0" hangingPunct="1">
              <a:spcBef>
                <a:spcPct val="20000"/>
              </a:spcBef>
              <a:buSzPct val="100000"/>
              <a:buFont typeface="Cambria Math" panose="02040503050406030204" pitchFamily="18" charset="0"/>
              <a:buChar char="⎯"/>
              <a:defRPr sz="153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1172" indent="-270234" algn="l" defTabSz="1351172" rtl="0" eaLnBrk="1" latinLnBrk="0" hangingPunct="1">
              <a:spcBef>
                <a:spcPct val="20000"/>
              </a:spcBef>
              <a:buSzPct val="85000"/>
              <a:buFont typeface="System Font Regular"/>
              <a:buChar char="-"/>
              <a:tabLst>
                <a:tab pos="2195657" algn="l"/>
              </a:tabLst>
              <a:defRPr sz="153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15725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91312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66898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42485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REGIONAL INFLUENCES</a:t>
            </a: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lt"/>
              <a:cs typeface="+mn-lt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Sky Conditions</a:t>
            </a: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Partly cloudy and overcast conditions dominate </a:t>
            </a:r>
            <a:r>
              <a:rPr lang="en-US" sz="1000">
                <a:latin typeface="Franklin Gothic Book" panose="020B0503020102020204"/>
                <a:ea typeface="+mn-lt"/>
                <a:cs typeface="+mn-lt"/>
              </a:rPr>
              <a:t>the climate.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Overhead shading can play an important role in June/July when skies are clearer, and prevention of overheating is important</a:t>
            </a: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Decent solar production capability</a:t>
            </a: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ranklin Gothic Book" panose="020B0503020102020204"/>
              <a:ea typeface="+mn-lt"/>
              <a:cs typeface="+mn-lt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Local Electricity Grid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Electrical grid is substantially less CO</a:t>
            </a:r>
            <a:r>
              <a:rPr kumimoji="0" lang="en-US" sz="1000" b="0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2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 intensive than the national average. primarily due to its substantial reliance on nuclear energy and a growing commitment to renewable sources.</a:t>
            </a:r>
          </a:p>
          <a:p>
            <a:pPr marL="270234" marR="0" lvl="0" indent="-270234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Passive strategies that have greatest impact on higher emissions hours are evaporative cooling, mass + night ventilation, occupant use of fans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A2BA07-A16B-C678-B988-91E374F8C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630340"/>
              </p:ext>
            </p:extLst>
          </p:nvPr>
        </p:nvGraphicFramePr>
        <p:xfrm>
          <a:off x="382324" y="4825935"/>
          <a:ext cx="3503876" cy="148336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751938">
                  <a:extLst>
                    <a:ext uri="{9D8B030D-6E8A-4147-A177-3AD203B41FA5}">
                      <a16:colId xmlns:a16="http://schemas.microsoft.com/office/drawing/2014/main" val="2622696413"/>
                    </a:ext>
                  </a:extLst>
                </a:gridCol>
                <a:gridCol w="1751938">
                  <a:extLst>
                    <a:ext uri="{9D8B030D-6E8A-4147-A177-3AD203B41FA5}">
                      <a16:colId xmlns:a16="http://schemas.microsoft.com/office/drawing/2014/main" val="18627689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Carbon Emission Factors 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91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US Average (Electricity)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kg CO</a:t>
                      </a:r>
                      <a:r>
                        <a:rPr lang="en-US" sz="1200" baseline="-250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e/kBtu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651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Local Grid (Electricity)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kg CO</a:t>
                      </a:r>
                      <a:r>
                        <a:rPr lang="en-US" sz="1200" baseline="-250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e/kBtu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24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Natural Gas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kg CO</a:t>
                      </a:r>
                      <a:r>
                        <a:rPr lang="en-US" sz="1200" baseline="-250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e/kBtu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114905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51F92517-1D94-FD04-7B52-4A81936C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23" y="381001"/>
            <a:ext cx="11433968" cy="969433"/>
          </a:xfrm>
        </p:spPr>
        <p:txBody>
          <a:bodyPr>
            <a:normAutofit/>
          </a:bodyPr>
          <a:lstStyle/>
          <a:p>
            <a:r>
              <a:rPr lang="en-US" sz="3600" b="1">
                <a:latin typeface="Franklin Gothic Book" panose="020B0503020102020204" pitchFamily="34" charset="0"/>
              </a:rPr>
              <a:t>Climate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DE5CDF-D2E1-84AA-7D0C-9C89A935D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4" r="34824"/>
          <a:stretch>
            <a:fillRect/>
          </a:stretch>
        </p:blipFill>
        <p:spPr>
          <a:xfrm>
            <a:off x="4006718" y="381000"/>
            <a:ext cx="3939547" cy="609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1A2083-FCDA-BA7D-2C53-C93F8ECCE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5" r="34824"/>
          <a:stretch>
            <a:fillRect/>
          </a:stretch>
        </p:blipFill>
        <p:spPr>
          <a:xfrm>
            <a:off x="7988476" y="381000"/>
            <a:ext cx="3865059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0350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D040A-E16B-E2D0-BE9A-25225CFC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93121BD-A972-4A17-6659-669C2092B08C}"/>
              </a:ext>
            </a:extLst>
          </p:cNvPr>
          <p:cNvSpPr txBox="1">
            <a:spLocks/>
          </p:cNvSpPr>
          <p:nvPr/>
        </p:nvSpPr>
        <p:spPr>
          <a:xfrm>
            <a:off x="382324" y="1561605"/>
            <a:ext cx="3429388" cy="49153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70234" indent="-270234" algn="l" defTabSz="1351172" rtl="0" eaLnBrk="1" latinLnBrk="0" hangingPunct="1">
              <a:spcBef>
                <a:spcPct val="20000"/>
              </a:spcBef>
              <a:buSzPct val="75000"/>
              <a:buFont typeface="Wingdings" pitchFamily="2" charset="2"/>
              <a:buChar char="§"/>
              <a:defRPr sz="2550" kern="1200" cap="none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470" indent="-270234" algn="l" defTabSz="1351172" rtl="0" eaLnBrk="1" latinLnBrk="0" hangingPunct="1">
              <a:spcBef>
                <a:spcPct val="20000"/>
              </a:spcBef>
              <a:buSzPct val="75000"/>
              <a:buFont typeface="Courier New" pitchFamily="49" charset="0"/>
              <a:buChar char="o"/>
              <a:defRPr sz="229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704" indent="-270234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4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937" indent="-270234" algn="l" defTabSz="1351172" rtl="0" eaLnBrk="1" latinLnBrk="0" hangingPunct="1">
              <a:spcBef>
                <a:spcPct val="20000"/>
              </a:spcBef>
              <a:buSzPct val="100000"/>
              <a:buFont typeface="Cambria Math" panose="02040503050406030204" pitchFamily="18" charset="0"/>
              <a:buChar char="⎯"/>
              <a:defRPr sz="153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1172" indent="-270234" algn="l" defTabSz="1351172" rtl="0" eaLnBrk="1" latinLnBrk="0" hangingPunct="1">
              <a:spcBef>
                <a:spcPct val="20000"/>
              </a:spcBef>
              <a:buSzPct val="85000"/>
              <a:buFont typeface="System Font Regular"/>
              <a:buChar char="-"/>
              <a:tabLst>
                <a:tab pos="2195657" algn="l"/>
              </a:tabLst>
              <a:defRPr sz="153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15725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91312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66898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42485" indent="-337792" algn="l" defTabSz="13511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9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YEAR 2025</a:t>
            </a:r>
            <a:r>
              <a:rPr lang="en-US" sz="1400" b="1">
                <a:latin typeface="Franklin Gothic Book" panose="020B0503020102020204"/>
                <a:ea typeface="+mn-lt"/>
                <a:cs typeface="+mn-lt"/>
              </a:rPr>
              <a:t> VS 2050 (RCP 4.5 Scenario)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lt"/>
              <a:cs typeface="+mn-lt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Temperature </a:t>
            </a:r>
            <a:r>
              <a:rPr lang="en-US" sz="1400" b="1">
                <a:latin typeface="Franklin Gothic Book" panose="020B0503020102020204"/>
                <a:ea typeface="+mn-lt"/>
                <a:cs typeface="+mn-lt"/>
              </a:rPr>
              <a:t>Increases </a:t>
            </a:r>
          </a:p>
          <a:p>
            <a:pPr marL="269875" indent="-269875" defTabSz="921229"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Rising Average Temperatures and Humidity :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Newyork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 is expected to experience a rise in average temperatures and humidity. Emphasizing the importance of shade to shave peak cooling loads.  </a:t>
            </a:r>
            <a:endParaRPr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lt"/>
              <a:cs typeface="+mn-lt"/>
            </a:endParaRPr>
          </a:p>
          <a:p>
            <a:pPr marL="269875" indent="-269875" defTabSz="921229"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Increase in Extremely Hot Days: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an average of 38 days will exceed a temperature of 92.7 °F by 2050. Design for indoor comfort using passive cooling, reflective roofing, wall insulation to block heat gain. Mitigate urban heat island effect increasing usability </a:t>
            </a:r>
            <a:r>
              <a:rPr lang="en-US" sz="1200">
                <a:latin typeface="Franklin Gothic Book" panose="020B0503020102020204"/>
                <a:ea typeface="+mn-lt"/>
                <a:cs typeface="+mn-lt"/>
              </a:rPr>
              <a:t>of outdoor spaces </a:t>
            </a:r>
            <a:endParaRPr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lt"/>
              <a:cs typeface="+mn-lt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0" marR="0" lvl="0" indent="0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Local Electricity </a:t>
            </a:r>
            <a:r>
              <a:rPr lang="en-US" sz="1400" b="1">
                <a:latin typeface="Franklin Gothic Book" panose="020B0503020102020204"/>
                <a:ea typeface="+mn-lt"/>
                <a:cs typeface="+mn-lt"/>
              </a:rPr>
              <a:t>Grid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lt"/>
                <a:cs typeface="+mn-lt"/>
              </a:rPr>
              <a:t>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269875" marR="0" lvl="0" indent="-269875" algn="l" defTabSz="92122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The planned retirement of aging nuclear facilities across the broader Northeast and Midwest US — including potential future decommissioning of upstate New York's own nuclear assets as they approach end-of-life — poses a meaningful risk to both grid reliability and carbon performance. Proactive measures, including the expansion of renewable energy and energy storage, are essential to mitigate these potential impacts.</a:t>
            </a:r>
            <a:endParaRPr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Franklin Gothic Book" panose="020B05030201020202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71530D-8FE3-11C9-8033-3912E377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23" y="381001"/>
            <a:ext cx="11433968" cy="969433"/>
          </a:xfrm>
        </p:spPr>
        <p:txBody>
          <a:bodyPr>
            <a:normAutofit/>
          </a:bodyPr>
          <a:lstStyle/>
          <a:p>
            <a:r>
              <a:rPr lang="en-US" sz="3600" b="1">
                <a:latin typeface="Franklin Gothic Book" panose="020B0503020102020204" pitchFamily="34" charset="0"/>
              </a:rPr>
              <a:t>Climate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60BD6-09F0-565C-90CE-E6F948F62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6" r="17191" b="72821"/>
          <a:stretch>
            <a:fillRect/>
          </a:stretch>
        </p:blipFill>
        <p:spPr>
          <a:xfrm>
            <a:off x="3940465" y="381000"/>
            <a:ext cx="8078771" cy="16568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18FD02-D541-F029-2F4B-F2A4C21F5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6" t="27178" r="17191" b="22821"/>
          <a:stretch>
            <a:fillRect/>
          </a:stretch>
        </p:blipFill>
        <p:spPr>
          <a:xfrm>
            <a:off x="3940465" y="2037835"/>
            <a:ext cx="8078771" cy="3047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FD6BAE-BDCE-A7EF-9292-ADDC5D46A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6" t="2150" r="16711" b="81947"/>
          <a:stretch>
            <a:fillRect/>
          </a:stretch>
        </p:blipFill>
        <p:spPr>
          <a:xfrm>
            <a:off x="3940464" y="5175504"/>
            <a:ext cx="8078771" cy="96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8070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56ED-9CF0-C1E0-3AA7-0BB4AB23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AB6EFEA-A6C6-004E-4B45-76AE0569B6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519" y="2031097"/>
            <a:ext cx="4724400" cy="2603491"/>
          </a:xfrm>
          <a:prstGeom prst="rect">
            <a:avLst/>
          </a:prstGeom>
        </p:spPr>
      </p:pic>
      <p:sp>
        <p:nvSpPr>
          <p:cNvPr id="18" name="node301"/>
          <p:cNvSpPr>
            <a:spLocks/>
          </p:cNvSpPr>
          <p:nvPr/>
        </p:nvSpPr>
        <p:spPr>
          <a:xfrm>
            <a:off x="4826000" y="1739900"/>
            <a:ext cx="711200" cy="711200"/>
          </a:xfrm>
          <a:prstGeom prst="ellipse">
            <a:avLst/>
          </a:prstGeom>
          <a:solidFill>
            <a:srgbClr val="FF07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node302"/>
          <p:cNvSpPr>
            <a:spLocks/>
          </p:cNvSpPr>
          <p:nvPr/>
        </p:nvSpPr>
        <p:spPr>
          <a:xfrm>
            <a:off x="4826000" y="2628900"/>
            <a:ext cx="711200" cy="711200"/>
          </a:xfrm>
          <a:prstGeom prst="ellipse">
            <a:avLst/>
          </a:prstGeom>
          <a:solidFill>
            <a:srgbClr val="FF07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node303"/>
          <p:cNvSpPr>
            <a:spLocks/>
          </p:cNvSpPr>
          <p:nvPr/>
        </p:nvSpPr>
        <p:spPr>
          <a:xfrm>
            <a:off x="4826000" y="3517900"/>
            <a:ext cx="711200" cy="711200"/>
          </a:xfrm>
          <a:prstGeom prst="ellipse">
            <a:avLst/>
          </a:prstGeom>
          <a:solidFill>
            <a:srgbClr val="FF07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Title 1">
            <a:extLst>
              <a:ext uri="{FF2B5EF4-FFF2-40B4-BE49-F238E27FC236}">
                <a16:creationId xmlns:a16="http://schemas.microsoft.com/office/drawing/2014/main" id="{9184C6E8-FC9A-C38D-DB4A-1F04F100A064}"/>
              </a:ext>
            </a:extLst>
          </p:cNvPr>
          <p:cNvSpPr txBox="1">
            <a:spLocks/>
          </p:cNvSpPr>
          <p:nvPr/>
        </p:nvSpPr>
        <p:spPr>
          <a:xfrm>
            <a:off x="159584" y="-39424"/>
            <a:ext cx="11433968" cy="969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latin typeface="Franklin Gothic Book" panose="020B0503020102020204" pitchFamily="34" charset="0"/>
              </a:rPr>
              <a:t>Project Utility Profile</a:t>
            </a:r>
          </a:p>
        </p:txBody>
      </p:sp>
      <p:sp>
        <p:nvSpPr>
          <p:cNvPr id="351" name="hdr351"/>
          <p:cNvSpPr/>
          <p:nvPr/>
        </p:nvSpPr>
        <p:spPr>
          <a:xfrm>
            <a:off x="4572000" y="13716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Utility</a:t>
            </a:r>
          </a:p>
        </p:txBody>
      </p:sp>
      <p:sp>
        <p:nvSpPr>
          <p:cNvPr id="352" name="hdr352"/>
          <p:cNvSpPr/>
          <p:nvPr/>
        </p:nvSpPr>
        <p:spPr>
          <a:xfrm>
            <a:off x="6896100" y="13716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Source</a:t>
            </a:r>
          </a:p>
        </p:txBody>
      </p:sp>
      <p:sp>
        <p:nvSpPr>
          <p:cNvPr id="311" name="pill311"/>
          <p:cNvSpPr/>
          <p:nvPr/>
        </p:nvSpPr>
        <p:spPr>
          <a:xfrm>
            <a:off x="6032500" y="1752600"/>
            <a:ext cx="420370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FF0700"/>
            </a:solidFill>
          </a:ln>
        </p:spPr>
        <p:txBody>
          <a:bodyPr wrap="square" lIns="36576" tIns="9144" rIns="36576" bIns="9144" anchor="ctr"/>
          <a:lstStyle/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FF0700"/>
                </a:solidFill>
              </a:rPr>
              <a:t>Electricity</a:t>
            </a:r>
          </a:p>
          <a:p>
            <a:pPr algn="ctr">
              <a:lnSpc>
                <a:spcPts val="1550"/>
              </a:lnSpc>
            </a:pPr>
            <a:r>
              <a:rPr lang="en-US" sz="1400">
                <a:solidFill>
                  <a:srgbClr val="000000"/>
                </a:solidFill>
              </a:rPr>
              <a:t>Resource Provider - Niagara Mohawk</a:t>
            </a:r>
          </a:p>
        </p:txBody>
      </p:sp>
      <p:sp>
        <p:nvSpPr>
          <p:cNvPr id="312" name="pill312"/>
          <p:cNvSpPr/>
          <p:nvPr/>
        </p:nvSpPr>
        <p:spPr>
          <a:xfrm>
            <a:off x="6032499" y="3530600"/>
            <a:ext cx="4203699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FF0700"/>
            </a:solidFill>
          </a:ln>
        </p:spPr>
        <p:txBody>
          <a:bodyPr wrap="square" lIns="36576" tIns="9144" rIns="36576" bIns="9144" anchor="ctr"/>
          <a:lstStyle/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FF0700"/>
                </a:solidFill>
              </a:rPr>
              <a:t>Water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Resource Provider - Syracuse Water Dept.</a:t>
            </a:r>
          </a:p>
        </p:txBody>
      </p:sp>
      <p:sp>
        <p:nvSpPr>
          <p:cNvPr id="313" name="pill313"/>
          <p:cNvSpPr/>
          <p:nvPr/>
        </p:nvSpPr>
        <p:spPr>
          <a:xfrm>
            <a:off x="6032500" y="2628900"/>
            <a:ext cx="420370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FF0700"/>
            </a:solidFill>
          </a:ln>
        </p:spPr>
        <p:txBody>
          <a:bodyPr wrap="square" lIns="36576" tIns="9144" rIns="36576" bIns="9144" anchor="ctr"/>
          <a:lstStyle/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FF0700"/>
                </a:solidFill>
              </a:rPr>
              <a:t>Natural Gas</a:t>
            </a:r>
          </a:p>
          <a:p>
            <a:pPr algn="ctr">
              <a:lnSpc>
                <a:spcPts val="1550"/>
              </a:lnSpc>
            </a:pPr>
            <a:r>
              <a:rPr lang="en-US" sz="1400">
                <a:solidFill>
                  <a:srgbClr val="000000"/>
                </a:solidFill>
              </a:rPr>
              <a:t>Resource Provider - National Grid</a:t>
            </a:r>
            <a:endParaRPr lang="en-US"/>
          </a:p>
        </p:txBody>
      </p:sp>
      <p:pic>
        <p:nvPicPr>
          <p:cNvPr id="354" name="Graphic 354" descr="Electricity bol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100" y="1905000"/>
            <a:ext cx="381000" cy="381000"/>
          </a:xfrm>
          <a:prstGeom prst="rect">
            <a:avLst/>
          </a:prstGeom>
        </p:spPr>
      </p:pic>
      <p:pic>
        <p:nvPicPr>
          <p:cNvPr id="355" name="Graphic 355" descr="Water drop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0218" y="3683000"/>
            <a:ext cx="381000" cy="381000"/>
          </a:xfrm>
          <a:prstGeom prst="rect">
            <a:avLst/>
          </a:prstGeom>
        </p:spPr>
      </p:pic>
      <p:pic>
        <p:nvPicPr>
          <p:cNvPr id="356" name="Graphic 356" descr="Gas fue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1059" y="2794000"/>
            <a:ext cx="381000" cy="381000"/>
          </a:xfrm>
          <a:prstGeom prst="rect">
            <a:avLst/>
          </a:prstGeom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CE6233F-D450-E978-A05B-0CA2ECC4AE2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39834" y="2095498"/>
            <a:ext cx="2186169" cy="1066804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35CE6BA-8A60-2504-CA1E-B1289DFAB62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47089" y="2984500"/>
            <a:ext cx="2186169" cy="342900"/>
          </a:xfrm>
          <a:prstGeom prst="bentConnector3">
            <a:avLst>
              <a:gd name="adj1" fmla="val 38170"/>
            </a:avLst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B16AEF1-7F8C-C9BC-5FC0-96C651675544}"/>
              </a:ext>
            </a:extLst>
          </p:cNvPr>
          <p:cNvCxnSpPr>
            <a:cxnSpLocks/>
            <a:stCxn id="20" idx="2"/>
          </p:cNvCxnSpPr>
          <p:nvPr/>
        </p:nvCxnSpPr>
        <p:spPr>
          <a:xfrm rot="10800000">
            <a:off x="2639834" y="3530600"/>
            <a:ext cx="2186166" cy="342900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7D0B772D-8F2D-B07F-A943-2C110C757091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2408440" y="3782217"/>
            <a:ext cx="2417560" cy="1006103"/>
          </a:xfrm>
          <a:prstGeom prst="bentConnector3">
            <a:avLst>
              <a:gd name="adj1" fmla="val 37774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node303">
            <a:extLst>
              <a:ext uri="{FF2B5EF4-FFF2-40B4-BE49-F238E27FC236}">
                <a16:creationId xmlns:a16="http://schemas.microsoft.com/office/drawing/2014/main" id="{F96EB8C0-9490-C76A-CEE8-96CF4AEA9D3F}"/>
              </a:ext>
            </a:extLst>
          </p:cNvPr>
          <p:cNvSpPr>
            <a:spLocks/>
          </p:cNvSpPr>
          <p:nvPr/>
        </p:nvSpPr>
        <p:spPr>
          <a:xfrm>
            <a:off x="4826000" y="4406900"/>
            <a:ext cx="711200" cy="711200"/>
          </a:xfrm>
          <a:prstGeom prst="ellipse">
            <a:avLst/>
          </a:prstGeom>
          <a:solidFill>
            <a:srgbClr val="FF07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pill312">
            <a:extLst>
              <a:ext uri="{FF2B5EF4-FFF2-40B4-BE49-F238E27FC236}">
                <a16:creationId xmlns:a16="http://schemas.microsoft.com/office/drawing/2014/main" id="{EB5A3C45-535B-286D-02BD-D5FAEFB2E928}"/>
              </a:ext>
            </a:extLst>
          </p:cNvPr>
          <p:cNvSpPr/>
          <p:nvPr/>
        </p:nvSpPr>
        <p:spPr>
          <a:xfrm>
            <a:off x="6032498" y="4419600"/>
            <a:ext cx="4203699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FF0700"/>
            </a:solidFill>
          </a:ln>
        </p:spPr>
        <p:txBody>
          <a:bodyPr wrap="square" lIns="36576" tIns="9144" rIns="36576" bIns="9144" anchor="ctr"/>
          <a:lstStyle/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FF0700"/>
                </a:solidFill>
              </a:rPr>
              <a:t>Sewer</a:t>
            </a:r>
          </a:p>
          <a:p>
            <a:pPr algn="ctr"/>
            <a:r>
              <a:rPr lang="en-US" sz="1400"/>
              <a:t>Onondaga County </a:t>
            </a:r>
          </a:p>
          <a:p>
            <a:pPr algn="ctr"/>
            <a:r>
              <a:rPr lang="en-US" sz="1400"/>
              <a:t>Department of Water Environment Protection (WEP)</a:t>
            </a:r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357" name="Graphic 357" descr="Sewer/water treatment filt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91100" y="4572000"/>
            <a:ext cx="381000" cy="381000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207372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8ED4E-7810-BDA4-BC26-B8E49FD2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A038BA4-FF88-FCEE-2161-A9B99F85731F}"/>
              </a:ext>
            </a:extLst>
          </p:cNvPr>
          <p:cNvSpPr txBox="1"/>
          <p:nvPr/>
        </p:nvSpPr>
        <p:spPr>
          <a:xfrm>
            <a:off x="374238" y="1538819"/>
            <a:ext cx="11653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Utility Rate 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Electricity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DA2B01-D607-6433-FDB5-656C48C14BA8}"/>
              </a:ext>
            </a:extLst>
          </p:cNvPr>
          <p:cNvSpPr/>
          <p:nvPr/>
        </p:nvSpPr>
        <p:spPr>
          <a:xfrm>
            <a:off x="3246978" y="1608114"/>
            <a:ext cx="4762500" cy="28575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00B050"/>
              </a:gs>
              <a:gs pos="17000">
                <a:srgbClr val="FFFF00"/>
              </a:gs>
              <a:gs pos="100000">
                <a:srgbClr val="FF0000"/>
              </a:gs>
            </a:gsLst>
            <a:lin ang="0" scaled="1"/>
          </a:gradFill>
          <a:ln w="9525" cap="flat">
            <a:solidFill>
              <a:srgbClr val="9A9A9A"/>
            </a:solidFill>
            <a:prstDash val="solid"/>
            <a:miter/>
          </a:ln>
        </p:spPr>
        <p:txBody>
          <a:bodyPr/>
          <a:lstStyle/>
          <a:p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404939-81A4-9BE0-76F9-06CC1044035E}"/>
              </a:ext>
            </a:extLst>
          </p:cNvPr>
          <p:cNvSpPr txBox="1"/>
          <p:nvPr/>
        </p:nvSpPr>
        <p:spPr>
          <a:xfrm>
            <a:off x="2761817" y="1836659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0.36 </a:t>
            </a:r>
          </a:p>
          <a:p>
            <a:pPr algn="r"/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kBtu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62DE0F-361C-F4BC-DCBF-626580013FA5}"/>
              </a:ext>
            </a:extLst>
          </p:cNvPr>
          <p:cNvSpPr txBox="1"/>
          <p:nvPr/>
        </p:nvSpPr>
        <p:spPr>
          <a:xfrm>
            <a:off x="8009478" y="1812111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0.75 </a:t>
            </a:r>
          </a:p>
          <a:p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kBtu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6116FAE-6E16-2984-22B7-D0C07A2F3B01}"/>
              </a:ext>
            </a:extLst>
          </p:cNvPr>
          <p:cNvSpPr/>
          <p:nvPr/>
        </p:nvSpPr>
        <p:spPr>
          <a:xfrm>
            <a:off x="4122746" y="1391099"/>
            <a:ext cx="113974" cy="826358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bg2">
                <a:lumMod val="75000"/>
              </a:schemeClr>
            </a:solidFill>
            <a:prstDash val="dash"/>
            <a:miter/>
          </a:ln>
        </p:spPr>
        <p:txBody>
          <a:bodyPr/>
          <a:lstStyle/>
          <a:p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DA7D13-5889-343D-67A2-DBC87B6FFC0C}"/>
              </a:ext>
            </a:extLst>
          </p:cNvPr>
          <p:cNvSpPr txBox="1"/>
          <p:nvPr/>
        </p:nvSpPr>
        <p:spPr>
          <a:xfrm>
            <a:off x="3813523" y="1088532"/>
            <a:ext cx="442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spc="0" baseline="0">
                <a:ln/>
                <a:solidFill>
                  <a:schemeClr val="bg2">
                    <a:lumMod val="7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0.13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0E0D06-F834-AEE2-90F7-18D3828720BB}"/>
              </a:ext>
            </a:extLst>
          </p:cNvPr>
          <p:cNvSpPr/>
          <p:nvPr/>
        </p:nvSpPr>
        <p:spPr>
          <a:xfrm flipH="1">
            <a:off x="4881880" y="1388584"/>
            <a:ext cx="211154" cy="868319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tx1"/>
            </a:solidFill>
            <a:prstDash val="dash"/>
            <a:miter/>
          </a:ln>
        </p:spPr>
        <p:txBody>
          <a:bodyPr/>
          <a:lstStyle/>
          <a:p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C8A688-EF46-3A52-192D-ABCB47BADC72}"/>
              </a:ext>
            </a:extLst>
          </p:cNvPr>
          <p:cNvSpPr txBox="1"/>
          <p:nvPr/>
        </p:nvSpPr>
        <p:spPr>
          <a:xfrm>
            <a:off x="4987457" y="1088531"/>
            <a:ext cx="442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0.19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325755E-248F-C667-65F1-3A75D0236D7F}"/>
              </a:ext>
            </a:extLst>
          </p:cNvPr>
          <p:cNvSpPr/>
          <p:nvPr/>
        </p:nvSpPr>
        <p:spPr>
          <a:xfrm flipH="1">
            <a:off x="4773344" y="1396238"/>
            <a:ext cx="62815" cy="811586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860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4823A-3E5F-09A5-64A2-DE7B6C878570}"/>
              </a:ext>
            </a:extLst>
          </p:cNvPr>
          <p:cNvSpPr txBox="1"/>
          <p:nvPr/>
        </p:nvSpPr>
        <p:spPr>
          <a:xfrm>
            <a:off x="4621063" y="1094738"/>
            <a:ext cx="444352" cy="24622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000" spc="0" baseline="0">
                <a:ln/>
                <a:latin typeface="Franklin Gothic Demi" panose="020B0703020102020204" pitchFamily="34" charset="0"/>
                <a:cs typeface="Segoe UI"/>
                <a:sym typeface="Segoe UI"/>
                <a:rtl val="0"/>
              </a:rPr>
              <a:t>0.18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FBF7F0-84CE-579E-51D6-62DC25D2ADB3}"/>
              </a:ext>
            </a:extLst>
          </p:cNvPr>
          <p:cNvSpPr txBox="1"/>
          <p:nvPr/>
        </p:nvSpPr>
        <p:spPr>
          <a:xfrm>
            <a:off x="374238" y="2920339"/>
            <a:ext cx="1213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Utility </a:t>
            </a:r>
            <a:r>
              <a:rPr lang="en-US" sz="1600" b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Rate 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Natural Gas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A39A77-0340-535F-883E-9D931AB44F39}"/>
              </a:ext>
            </a:extLst>
          </p:cNvPr>
          <p:cNvSpPr/>
          <p:nvPr/>
        </p:nvSpPr>
        <p:spPr>
          <a:xfrm>
            <a:off x="3246978" y="3127862"/>
            <a:ext cx="4762500" cy="28575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00B050"/>
              </a:gs>
              <a:gs pos="10000">
                <a:srgbClr val="FFFF00"/>
              </a:gs>
              <a:gs pos="100000">
                <a:srgbClr val="FF0000"/>
              </a:gs>
            </a:gsLst>
            <a:lin ang="0" scaled="1"/>
          </a:gradFill>
          <a:ln w="9525" cap="flat">
            <a:solidFill>
              <a:srgbClr val="9A9A9A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D8D757-C6A6-1F7D-9EBE-9EAAF2752788}"/>
              </a:ext>
            </a:extLst>
          </p:cNvPr>
          <p:cNvSpPr txBox="1"/>
          <p:nvPr/>
        </p:nvSpPr>
        <p:spPr>
          <a:xfrm>
            <a:off x="2702671" y="3390646"/>
            <a:ext cx="567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0.010 </a:t>
            </a:r>
          </a:p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</a:t>
            </a:r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</a:t>
            </a:r>
            <a:r>
              <a:rPr lang="en-US" sz="1000" spc="0" baseline="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Btu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B9657F-65A1-9346-1B1F-FE0BBD115555}"/>
              </a:ext>
            </a:extLst>
          </p:cNvPr>
          <p:cNvSpPr txBox="1"/>
          <p:nvPr/>
        </p:nvSpPr>
        <p:spPr>
          <a:xfrm>
            <a:off x="8009478" y="3390646"/>
            <a:ext cx="567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0.015 </a:t>
            </a:r>
          </a:p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</a:t>
            </a:r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kBtu</a:t>
            </a:r>
            <a:endParaRPr lang="en-US" sz="100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E9CC3FC-B9D4-786D-7B0A-8036DC214494}"/>
              </a:ext>
            </a:extLst>
          </p:cNvPr>
          <p:cNvSpPr/>
          <p:nvPr/>
        </p:nvSpPr>
        <p:spPr>
          <a:xfrm>
            <a:off x="3832082" y="2840087"/>
            <a:ext cx="45719" cy="841996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bg2">
                <a:lumMod val="75000"/>
              </a:schemeClr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A8A535-CD88-B677-C7F3-FF2559485053}"/>
              </a:ext>
            </a:extLst>
          </p:cNvPr>
          <p:cNvSpPr txBox="1"/>
          <p:nvPr/>
        </p:nvSpPr>
        <p:spPr>
          <a:xfrm>
            <a:off x="3561273" y="261638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spc="0" baseline="0">
                <a:ln/>
                <a:solidFill>
                  <a:schemeClr val="bg2">
                    <a:lumMod val="7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1.21</a:t>
            </a:r>
            <a:endParaRPr lang="en-US" sz="750" b="1" spc="0" baseline="0">
              <a:ln/>
              <a:solidFill>
                <a:schemeClr val="bg2">
                  <a:lumMod val="75000"/>
                </a:schemeClr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51C294F-334B-54DD-2B39-7E5C3FE5F860}"/>
              </a:ext>
            </a:extLst>
          </p:cNvPr>
          <p:cNvSpPr/>
          <p:nvPr/>
        </p:nvSpPr>
        <p:spPr>
          <a:xfrm>
            <a:off x="4056505" y="2840087"/>
            <a:ext cx="45719" cy="841996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tx1"/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CDCA0E-32E4-8AC9-F255-DF9AA8B9D0A9}"/>
              </a:ext>
            </a:extLst>
          </p:cNvPr>
          <p:cNvSpPr txBox="1"/>
          <p:nvPr/>
        </p:nvSpPr>
        <p:spPr>
          <a:xfrm>
            <a:off x="3990349" y="3688745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solidFill>
                  <a:srgbClr val="000000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1.40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E640119-6A50-F0EF-BAF5-044AA5F5D504}"/>
              </a:ext>
            </a:extLst>
          </p:cNvPr>
          <p:cNvSpPr/>
          <p:nvPr/>
        </p:nvSpPr>
        <p:spPr>
          <a:xfrm>
            <a:off x="3897283" y="2840087"/>
            <a:ext cx="45719" cy="841996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860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6E5741-FD77-E80F-F210-AB4D27A52570}"/>
              </a:ext>
            </a:extLst>
          </p:cNvPr>
          <p:cNvSpPr txBox="1"/>
          <p:nvPr/>
        </p:nvSpPr>
        <p:spPr>
          <a:xfrm>
            <a:off x="3623836" y="3690289"/>
            <a:ext cx="442750" cy="24622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b="1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1.2</a:t>
            </a:r>
            <a:r>
              <a:rPr lang="en-US" sz="1000" b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7</a:t>
            </a:r>
            <a:endParaRPr lang="en-US" sz="1000" b="1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26BD0C-EB6F-EDCC-3480-FA1E7DB43946}"/>
              </a:ext>
            </a:extLst>
          </p:cNvPr>
          <p:cNvSpPr txBox="1"/>
          <p:nvPr/>
        </p:nvSpPr>
        <p:spPr>
          <a:xfrm>
            <a:off x="365400" y="4404820"/>
            <a:ext cx="1784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Grid 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Carbon Emissions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597C766-90D1-4841-BD47-057ABF2449ED}"/>
              </a:ext>
            </a:extLst>
          </p:cNvPr>
          <p:cNvSpPr/>
          <p:nvPr/>
        </p:nvSpPr>
        <p:spPr>
          <a:xfrm>
            <a:off x="3246978" y="4596835"/>
            <a:ext cx="4762500" cy="28575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00B050"/>
              </a:gs>
              <a:gs pos="46000">
                <a:srgbClr val="FFFF00"/>
              </a:gs>
              <a:gs pos="100000">
                <a:srgbClr val="FF0000"/>
              </a:gs>
            </a:gsLst>
            <a:lin ang="0" scaled="1"/>
          </a:gradFill>
          <a:ln w="9525" cap="flat">
            <a:solidFill>
              <a:srgbClr val="9A9A9A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DD151F-A983-CEA5-D5B2-A317E1D01F7B}"/>
              </a:ext>
            </a:extLst>
          </p:cNvPr>
          <p:cNvSpPr txBox="1"/>
          <p:nvPr/>
        </p:nvSpPr>
        <p:spPr>
          <a:xfrm>
            <a:off x="1619034" y="4798552"/>
            <a:ext cx="16489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0.003</a:t>
            </a:r>
          </a:p>
          <a:p>
            <a:pPr algn="r"/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kgCO2e/</a:t>
            </a:r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kBtu</a:t>
            </a:r>
            <a:endParaRPr lang="en-US" sz="100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  <a:p>
            <a:pPr algn="r"/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3561D8-8AC0-8AA8-55E1-5BEC3CDDCA33}"/>
              </a:ext>
            </a:extLst>
          </p:cNvPr>
          <p:cNvSpPr txBox="1"/>
          <p:nvPr/>
        </p:nvSpPr>
        <p:spPr>
          <a:xfrm>
            <a:off x="7985908" y="4795451"/>
            <a:ext cx="915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0.820 </a:t>
            </a:r>
          </a:p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kgCO2e/</a:t>
            </a:r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kBtu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DEF2F54-5D44-E271-204D-7AC83A9691C0}"/>
              </a:ext>
            </a:extLst>
          </p:cNvPr>
          <p:cNvSpPr/>
          <p:nvPr/>
        </p:nvSpPr>
        <p:spPr>
          <a:xfrm>
            <a:off x="5434543" y="4296133"/>
            <a:ext cx="45719" cy="907283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bg2">
                <a:lumMod val="75000"/>
              </a:schemeClr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1E8DC1-47B1-035E-8FE7-4B2A1FB8B250}"/>
              </a:ext>
            </a:extLst>
          </p:cNvPr>
          <p:cNvSpPr txBox="1"/>
          <p:nvPr/>
        </p:nvSpPr>
        <p:spPr>
          <a:xfrm>
            <a:off x="5162072" y="5176964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spc="0" baseline="0">
                <a:ln/>
                <a:solidFill>
                  <a:schemeClr val="bg2">
                    <a:lumMod val="7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0.39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3514763-9B2E-F308-AEDD-14BAE55C7EC5}"/>
              </a:ext>
            </a:extLst>
          </p:cNvPr>
          <p:cNvSpPr/>
          <p:nvPr/>
        </p:nvSpPr>
        <p:spPr>
          <a:xfrm>
            <a:off x="4515851" y="4296133"/>
            <a:ext cx="45719" cy="907283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tx1"/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3D184B-1CC9-053D-BE60-000C9C4EDB2A}"/>
              </a:ext>
            </a:extLst>
          </p:cNvPr>
          <p:cNvSpPr txBox="1"/>
          <p:nvPr/>
        </p:nvSpPr>
        <p:spPr>
          <a:xfrm>
            <a:off x="4100388" y="5183287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solidFill>
                  <a:srgbClr val="000000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0.21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010671B-8941-F728-C151-ECFD69C39A1E}"/>
              </a:ext>
            </a:extLst>
          </p:cNvPr>
          <p:cNvSpPr/>
          <p:nvPr/>
        </p:nvSpPr>
        <p:spPr>
          <a:xfrm>
            <a:off x="4573152" y="4296133"/>
            <a:ext cx="45719" cy="907283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860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F36178-548A-CADE-C645-C218CC6E12B3}"/>
              </a:ext>
            </a:extLst>
          </p:cNvPr>
          <p:cNvSpPr txBox="1"/>
          <p:nvPr/>
        </p:nvSpPr>
        <p:spPr>
          <a:xfrm>
            <a:off x="4506757" y="5176964"/>
            <a:ext cx="442750" cy="24622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b="1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0.21</a:t>
            </a:r>
          </a:p>
        </p:txBody>
      </p:sp>
      <p:sp>
        <p:nvSpPr>
          <p:cNvPr id="100" name="Title 1">
            <a:extLst>
              <a:ext uri="{FF2B5EF4-FFF2-40B4-BE49-F238E27FC236}">
                <a16:creationId xmlns:a16="http://schemas.microsoft.com/office/drawing/2014/main" id="{95BF0F52-D6E4-776A-1463-EBC14F117630}"/>
              </a:ext>
            </a:extLst>
          </p:cNvPr>
          <p:cNvSpPr txBox="1">
            <a:spLocks/>
          </p:cNvSpPr>
          <p:nvPr/>
        </p:nvSpPr>
        <p:spPr>
          <a:xfrm>
            <a:off x="159584" y="-39424"/>
            <a:ext cx="11433968" cy="969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latin typeface="Franklin Gothic Book" panose="020B0503020102020204" pitchFamily="34" charset="0"/>
              </a:rPr>
              <a:t>Project Utility Profile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EEF9A-0532-8FB7-F4AD-6814F7B05F7C}"/>
              </a:ext>
            </a:extLst>
          </p:cNvPr>
          <p:cNvSpPr txBox="1"/>
          <p:nvPr/>
        </p:nvSpPr>
        <p:spPr>
          <a:xfrm>
            <a:off x="2744986" y="1292513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0.11 </a:t>
            </a:r>
          </a:p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kWh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F00EB-D443-EDAE-040B-2E290050F750}"/>
              </a:ext>
            </a:extLst>
          </p:cNvPr>
          <p:cNvSpPr txBox="1"/>
          <p:nvPr/>
        </p:nvSpPr>
        <p:spPr>
          <a:xfrm>
            <a:off x="8014501" y="128797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0.22 </a:t>
            </a:r>
          </a:p>
          <a:p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kWh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EB467-0ABB-EB04-64DD-8182AD484C45}"/>
              </a:ext>
            </a:extLst>
          </p:cNvPr>
          <p:cNvSpPr txBox="1"/>
          <p:nvPr/>
        </p:nvSpPr>
        <p:spPr>
          <a:xfrm>
            <a:off x="2601588" y="283184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 </a:t>
            </a:r>
          </a:p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</a:t>
            </a:r>
            <a:r>
              <a:rPr lang="en-US" sz="1000" spc="0" baseline="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ther</a:t>
            </a:r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m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6D48F-0892-E784-DF18-FB13AEFB0AE1}"/>
              </a:ext>
            </a:extLst>
          </p:cNvPr>
          <p:cNvSpPr txBox="1"/>
          <p:nvPr/>
        </p:nvSpPr>
        <p:spPr>
          <a:xfrm>
            <a:off x="7990661" y="280688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1.55 </a:t>
            </a:r>
          </a:p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</a:t>
            </a:r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therm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DDC33-9887-317F-904A-9235894DD980}"/>
              </a:ext>
            </a:extLst>
          </p:cNvPr>
          <p:cNvSpPr txBox="1"/>
          <p:nvPr/>
        </p:nvSpPr>
        <p:spPr>
          <a:xfrm>
            <a:off x="2352043" y="4274809"/>
            <a:ext cx="9028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0.01 </a:t>
            </a:r>
          </a:p>
          <a:p>
            <a:pPr algn="r"/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kgCO2e/kWh</a:t>
            </a:r>
          </a:p>
          <a:p>
            <a:pPr algn="r"/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4F1CC-78E7-CAFD-E5C2-0E63366B074E}"/>
              </a:ext>
            </a:extLst>
          </p:cNvPr>
          <p:cNvSpPr txBox="1"/>
          <p:nvPr/>
        </p:nvSpPr>
        <p:spPr>
          <a:xfrm>
            <a:off x="8005753" y="4277118"/>
            <a:ext cx="902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0.51 </a:t>
            </a:r>
          </a:p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kgCO2e/kWh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A03DC9C-F75F-934B-517C-0CB491F95FAB}"/>
              </a:ext>
            </a:extLst>
          </p:cNvPr>
          <p:cNvSpPr/>
          <p:nvPr/>
        </p:nvSpPr>
        <p:spPr>
          <a:xfrm flipH="1">
            <a:off x="3843745" y="4324017"/>
            <a:ext cx="75343" cy="879399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860" cap="flat">
            <a:solidFill>
              <a:srgbClr val="327FB8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DC24A-BB8E-5AD2-6603-B8954A050138}"/>
              </a:ext>
            </a:extLst>
          </p:cNvPr>
          <p:cNvSpPr txBox="1"/>
          <p:nvPr/>
        </p:nvSpPr>
        <p:spPr>
          <a:xfrm>
            <a:off x="379197" y="5780248"/>
            <a:ext cx="64027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0" baseline="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Source:</a:t>
            </a:r>
          </a:p>
          <a:p>
            <a:r>
              <a:rPr lang="en-US" sz="120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Electricity Utility Rates: </a:t>
            </a:r>
            <a:r>
              <a:rPr lang="en-US" sz="1200" err="1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 val="0"/>
              </a:rPr>
              <a:t>OpenEI</a:t>
            </a:r>
            <a:r>
              <a:rPr lang="en-US" sz="120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 val="0"/>
              </a:rPr>
              <a:t> Utility Rate Database (IURDB), U.S. Department of Energy (2026)</a:t>
            </a:r>
            <a:endParaRPr lang="en-US" sz="1200">
              <a:ln/>
              <a:solidFill>
                <a:schemeClr val="bg1">
                  <a:lumMod val="65000"/>
                </a:schemeClr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  <a:p>
            <a:r>
              <a:rPr lang="en-US" sz="120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Natural Gas Utility Rates : </a:t>
            </a:r>
            <a:r>
              <a:rPr lang="en-US" sz="1200" spc="0" baseline="0" err="1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 val="0"/>
              </a:rPr>
              <a:t>Opendata</a:t>
            </a:r>
            <a:r>
              <a:rPr lang="en-US" sz="1200" spc="0" baseline="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 val="0"/>
              </a:rPr>
              <a:t> - U.S. Energy Information Administration (EIA)</a:t>
            </a:r>
            <a:endParaRPr lang="en-US" sz="1200" spc="0" baseline="0">
              <a:ln/>
              <a:solidFill>
                <a:schemeClr val="bg1">
                  <a:lumMod val="65000"/>
                </a:schemeClr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  <a:p>
            <a:r>
              <a:rPr lang="en-US" sz="120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Grid Carbon Emissions: </a:t>
            </a:r>
            <a:r>
              <a:rPr lang="en-US" sz="1200">
                <a:solidFill>
                  <a:schemeClr val="bg1">
                    <a:lumMod val="6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NREL – Government website</a:t>
            </a:r>
            <a:endParaRPr lang="en-US" sz="1200">
              <a:solidFill>
                <a:schemeClr val="bg1">
                  <a:lumMod val="65000"/>
                </a:schemeClr>
              </a:solidFill>
            </a:endParaRPr>
          </a:p>
          <a:p>
            <a:endParaRPr lang="en-US" sz="1200" spc="0" baseline="0">
              <a:ln/>
              <a:solidFill>
                <a:schemeClr val="bg1">
                  <a:lumMod val="65000"/>
                </a:schemeClr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  <a:p>
            <a:endParaRPr lang="en-US" sz="1200" spc="0" baseline="0">
              <a:ln/>
              <a:solidFill>
                <a:schemeClr val="bg1">
                  <a:lumMod val="65000"/>
                </a:schemeClr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CB21DAC-D864-1AF2-DD1E-4B33204D7B32}"/>
              </a:ext>
            </a:extLst>
          </p:cNvPr>
          <p:cNvGraphicFramePr>
            <a:graphicFrameLocks noGrp="1"/>
          </p:cNvGraphicFramePr>
          <p:nvPr/>
        </p:nvGraphicFramePr>
        <p:xfrm>
          <a:off x="9818566" y="4504284"/>
          <a:ext cx="2622857" cy="23143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857">
                  <a:extLst>
                    <a:ext uri="{9D8B030D-6E8A-4147-A177-3AD203B41FA5}">
                      <a16:colId xmlns:a16="http://schemas.microsoft.com/office/drawing/2014/main" val="4073311657"/>
                    </a:ext>
                  </a:extLst>
                </a:gridCol>
              </a:tblGrid>
              <a:tr h="309521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Legend</a:t>
                      </a:r>
                      <a:endParaRPr lang="en-US" sz="1200" b="1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232014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US State Lowest Value </a:t>
                      </a:r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518838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US State Average Value </a:t>
                      </a:r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890901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US State Highest Value</a:t>
                      </a:r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908520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State Average Value: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</a:rPr>
                        <a:t>Newyork</a:t>
                      </a:r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737915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Franklin Gothic Book" panose="020B0503020102020204" pitchFamily="34" charset="0"/>
                        </a:rPr>
                        <a:t>Local Value: Syracuse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78822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Franklin Gothic Book" panose="020B0503020102020204" pitchFamily="34" charset="0"/>
                        </a:rPr>
                        <a:t>Natural Gas Carbon Emissions</a:t>
                      </a: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31115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440ACC2F-1A74-FA0D-C87B-2F785C6CEDBF}"/>
              </a:ext>
            </a:extLst>
          </p:cNvPr>
          <p:cNvSpPr/>
          <p:nvPr/>
        </p:nvSpPr>
        <p:spPr>
          <a:xfrm>
            <a:off x="9470235" y="4936907"/>
            <a:ext cx="270896" cy="202043"/>
          </a:xfrm>
          <a:prstGeom prst="rect">
            <a:avLst/>
          </a:prstGeom>
          <a:solidFill>
            <a:srgbClr val="03B1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7FCDAF-4769-4E51-0B76-5EDE49B513CB}"/>
              </a:ext>
            </a:extLst>
          </p:cNvPr>
          <p:cNvSpPr/>
          <p:nvPr/>
        </p:nvSpPr>
        <p:spPr>
          <a:xfrm>
            <a:off x="9470235" y="5199054"/>
            <a:ext cx="270896" cy="202043"/>
          </a:xfrm>
          <a:prstGeom prst="rect">
            <a:avLst/>
          </a:prstGeom>
          <a:solidFill>
            <a:srgbClr val="FFF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C0CA86-17F1-9599-C9EA-028C4F72B257}"/>
              </a:ext>
            </a:extLst>
          </p:cNvPr>
          <p:cNvSpPr/>
          <p:nvPr/>
        </p:nvSpPr>
        <p:spPr>
          <a:xfrm>
            <a:off x="9470235" y="5495445"/>
            <a:ext cx="270896" cy="202043"/>
          </a:xfrm>
          <a:prstGeom prst="rect">
            <a:avLst/>
          </a:prstGeom>
          <a:solidFill>
            <a:srgbClr val="FF0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55447A7-8F5E-A4A1-1E41-AF6CC46CAC95}"/>
              </a:ext>
            </a:extLst>
          </p:cNvPr>
          <p:cNvSpPr/>
          <p:nvPr/>
        </p:nvSpPr>
        <p:spPr>
          <a:xfrm>
            <a:off x="9481858" y="5876563"/>
            <a:ext cx="247650" cy="9525"/>
          </a:xfrm>
          <a:custGeom>
            <a:avLst/>
            <a:gdLst>
              <a:gd name="csX0" fmla="*/ 0 w 247650"/>
              <a:gd name="csY0" fmla="*/ 0 h 9525"/>
              <a:gd name="csX1" fmla="*/ 247650 w 2476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ln w="24765" cap="flat">
            <a:solidFill>
              <a:srgbClr val="000000"/>
            </a:solidFill>
            <a:prstDash val="dash"/>
            <a:miter/>
          </a:ln>
        </p:spPr>
        <p:txBody>
          <a:bodyPr/>
          <a:lstStyle/>
          <a:p>
            <a:endParaRPr lang="en-US" sz="3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D2D3B2-B815-D665-6662-161834FE5121}"/>
              </a:ext>
            </a:extLst>
          </p:cNvPr>
          <p:cNvSpPr/>
          <p:nvPr/>
        </p:nvSpPr>
        <p:spPr>
          <a:xfrm>
            <a:off x="9481858" y="6223553"/>
            <a:ext cx="247650" cy="9525"/>
          </a:xfrm>
          <a:custGeom>
            <a:avLst/>
            <a:gdLst>
              <a:gd name="csX0" fmla="*/ 0 w 247650"/>
              <a:gd name="csY0" fmla="*/ 0 h 9525"/>
              <a:gd name="csX1" fmla="*/ 247650 w 2476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ln w="24765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 sz="360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F757C63-6E5F-94D1-AFAD-1E07F5DA857B}"/>
              </a:ext>
            </a:extLst>
          </p:cNvPr>
          <p:cNvSpPr/>
          <p:nvPr/>
        </p:nvSpPr>
        <p:spPr>
          <a:xfrm>
            <a:off x="9481858" y="6517965"/>
            <a:ext cx="247650" cy="9525"/>
          </a:xfrm>
          <a:custGeom>
            <a:avLst/>
            <a:gdLst>
              <a:gd name="csX0" fmla="*/ 0 w 247650"/>
              <a:gd name="csY0" fmla="*/ 0 h 9525"/>
              <a:gd name="csX1" fmla="*/ 247650 w 2476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ln w="24765" cap="flat">
            <a:solidFill>
              <a:srgbClr val="327FB8"/>
            </a:solidFill>
            <a:prstDash val="solid"/>
            <a:miter/>
          </a:ln>
        </p:spPr>
        <p:txBody>
          <a:bodyPr/>
          <a:lstStyle/>
          <a:p>
            <a:endParaRPr lang="en-US" sz="36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B834E9-F10C-D3F0-754A-6F73B31260F0}"/>
              </a:ext>
            </a:extLst>
          </p:cNvPr>
          <p:cNvSpPr txBox="1"/>
          <p:nvPr/>
        </p:nvSpPr>
        <p:spPr>
          <a:xfrm>
            <a:off x="3632222" y="5193402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solidFill>
                  <a:srgbClr val="000000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0.015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401148E-F744-D028-E290-CABEFE524131}"/>
              </a:ext>
            </a:extLst>
          </p:cNvPr>
          <p:cNvSpPr/>
          <p:nvPr/>
        </p:nvSpPr>
        <p:spPr>
          <a:xfrm>
            <a:off x="9599649" y="5138560"/>
            <a:ext cx="116259" cy="356885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bg2">
                <a:lumMod val="75000"/>
              </a:schemeClr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622BA2-3475-487E-DA78-53F09A5A9929}"/>
              </a:ext>
            </a:extLst>
          </p:cNvPr>
          <p:cNvSpPr txBox="1"/>
          <p:nvPr/>
        </p:nvSpPr>
        <p:spPr>
          <a:xfrm>
            <a:off x="383386" y="4936907"/>
            <a:ext cx="1438214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00" spc="0" baseline="0">
                <a:ln/>
                <a:solidFill>
                  <a:srgbClr val="000000"/>
                </a:solidFill>
                <a:latin typeface="Franklin Gothic Book"/>
                <a:cs typeface="Segoe UI"/>
                <a:sym typeface="Segoe UI"/>
              </a:rPr>
              <a:t>Values in</a:t>
            </a:r>
            <a:r>
              <a:rPr lang="en-US" sz="1000">
                <a:ln/>
                <a:solidFill>
                  <a:srgbClr val="000000"/>
                </a:solidFill>
                <a:latin typeface="Franklin Gothic Book"/>
                <a:cs typeface="Segoe UI"/>
                <a:sym typeface="Segoe UI"/>
              </a:rPr>
              <a:t> kgCO2e/</a:t>
            </a:r>
            <a:r>
              <a:rPr lang="en-US" sz="1000" err="1">
                <a:ln/>
                <a:solidFill>
                  <a:srgbClr val="000000"/>
                </a:solidFill>
                <a:latin typeface="Franklin Gothic Book"/>
                <a:cs typeface="Segoe UI"/>
                <a:sym typeface="Segoe UI"/>
              </a:rPr>
              <a:t>kBtu</a:t>
            </a:r>
            <a:endParaRPr lang="en-US" sz="1000" spc="0" baseline="0" err="1">
              <a:ln/>
              <a:solidFill>
                <a:srgbClr val="000000"/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3F8845-5C60-CECE-B4D5-6826C04525F7}"/>
              </a:ext>
            </a:extLst>
          </p:cNvPr>
          <p:cNvSpPr txBox="1"/>
          <p:nvPr/>
        </p:nvSpPr>
        <p:spPr>
          <a:xfrm>
            <a:off x="368871" y="3463706"/>
            <a:ext cx="1090363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00" spc="0" baseline="0">
                <a:ln/>
                <a:solidFill>
                  <a:srgbClr val="000000"/>
                </a:solidFill>
                <a:latin typeface="Franklin Gothic Book"/>
                <a:cs typeface="Segoe UI"/>
                <a:sym typeface="Segoe UI"/>
              </a:rPr>
              <a:t>Values in</a:t>
            </a:r>
            <a:r>
              <a:rPr lang="en-US" sz="1000">
                <a:ln/>
                <a:solidFill>
                  <a:srgbClr val="000000"/>
                </a:solidFill>
                <a:latin typeface="Franklin Gothic Book"/>
                <a:cs typeface="Segoe UI"/>
                <a:sym typeface="Segoe UI"/>
              </a:rPr>
              <a:t> $/</a:t>
            </a:r>
            <a:r>
              <a:rPr lang="en-US" sz="1000" err="1">
                <a:ln/>
                <a:solidFill>
                  <a:srgbClr val="000000"/>
                </a:solidFill>
                <a:latin typeface="Franklin Gothic Book"/>
                <a:cs typeface="Segoe UI"/>
                <a:sym typeface="Segoe UI"/>
              </a:rPr>
              <a:t>kBtu</a:t>
            </a:r>
            <a:endParaRPr lang="en-US" sz="1000" spc="0" baseline="0" err="1">
              <a:ln/>
              <a:solidFill>
                <a:srgbClr val="000000"/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8A6C2-6430-1656-0614-90B8E201EE52}"/>
              </a:ext>
            </a:extLst>
          </p:cNvPr>
          <p:cNvSpPr txBox="1"/>
          <p:nvPr/>
        </p:nvSpPr>
        <p:spPr>
          <a:xfrm>
            <a:off x="412413" y="2092105"/>
            <a:ext cx="957313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00" spc="0" baseline="0">
                <a:ln/>
                <a:solidFill>
                  <a:srgbClr val="000000"/>
                </a:solidFill>
                <a:latin typeface="Franklin Gothic Book"/>
                <a:cs typeface="Segoe UI"/>
                <a:sym typeface="Segoe UI"/>
              </a:rPr>
              <a:t>Values in</a:t>
            </a:r>
            <a:r>
              <a:rPr lang="en-US" sz="1000">
                <a:ln/>
                <a:solidFill>
                  <a:srgbClr val="000000"/>
                </a:solidFill>
                <a:latin typeface="Franklin Gothic Book"/>
                <a:cs typeface="Segoe UI"/>
                <a:sym typeface="Segoe UI"/>
              </a:rPr>
              <a:t> kBtu</a:t>
            </a:r>
            <a:endParaRPr lang="en-US" sz="1000" spc="0" baseline="0">
              <a:ln/>
              <a:solidFill>
                <a:srgbClr val="000000"/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81428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8ED4E-7810-BDA4-BC26-B8E49FD2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A038BA4-FF88-FCEE-2161-A9B99F85731F}"/>
              </a:ext>
            </a:extLst>
          </p:cNvPr>
          <p:cNvSpPr txBox="1"/>
          <p:nvPr/>
        </p:nvSpPr>
        <p:spPr>
          <a:xfrm>
            <a:off x="374238" y="1538819"/>
            <a:ext cx="1381789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/>
                <a:cs typeface="Segoe UI"/>
                <a:sym typeface="Segoe UI"/>
              </a:rPr>
              <a:t> </a:t>
            </a:r>
            <a:r>
              <a:rPr lang="en-US" sz="1600" b="1">
                <a:ln/>
                <a:solidFill>
                  <a:srgbClr val="222222"/>
                </a:solidFill>
                <a:latin typeface="Franklin Gothic Book"/>
                <a:cs typeface="Segoe UI"/>
                <a:sym typeface="Segoe UI"/>
              </a:rPr>
              <a:t>Utility Rate - </a:t>
            </a:r>
            <a:endParaRPr lang="en-US" sz="1600" b="1" spc="0" baseline="0">
              <a:ln/>
              <a:solidFill>
                <a:srgbClr val="222222"/>
              </a:solidFill>
              <a:latin typeface="Franklin Gothic Book"/>
              <a:cs typeface="Segoe UI"/>
              <a:sym typeface="Segoe UI"/>
            </a:endParaRP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/>
                <a:cs typeface="Segoe UI"/>
                <a:sym typeface="Segoe UI"/>
              </a:rPr>
              <a:t>Water</a:t>
            </a:r>
            <a:r>
              <a:rPr lang="en-US" sz="1600" b="1">
                <a:ln/>
                <a:solidFill>
                  <a:srgbClr val="222222"/>
                </a:solidFill>
                <a:latin typeface="Franklin Gothic Book"/>
                <a:cs typeface="Segoe UI"/>
                <a:sym typeface="Segoe UI"/>
              </a:rPr>
              <a:t> Service</a:t>
            </a:r>
            <a:endParaRPr lang="en-US" sz="1600" b="1" spc="0" baseline="0">
              <a:ln/>
              <a:solidFill>
                <a:srgbClr val="222222"/>
              </a:solidFill>
              <a:latin typeface="Franklin Gothic Book" panose="020B0503020102020204" pitchFamily="34" charset="0"/>
              <a:cs typeface="Segoe UI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DA2B01-D607-6433-FDB5-656C48C14BA8}"/>
              </a:ext>
            </a:extLst>
          </p:cNvPr>
          <p:cNvSpPr/>
          <p:nvPr/>
        </p:nvSpPr>
        <p:spPr>
          <a:xfrm>
            <a:off x="3246978" y="1608114"/>
            <a:ext cx="4762500" cy="28575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00B050"/>
              </a:gs>
              <a:gs pos="17000">
                <a:srgbClr val="FFFF00"/>
              </a:gs>
              <a:gs pos="100000">
                <a:srgbClr val="FF0000"/>
              </a:gs>
            </a:gsLst>
            <a:lin ang="0" scaled="1"/>
          </a:gradFill>
          <a:ln w="9525" cap="flat">
            <a:solidFill>
              <a:srgbClr val="9A9A9A"/>
            </a:solidFill>
            <a:prstDash val="solid"/>
            <a:miter/>
          </a:ln>
        </p:spPr>
        <p:txBody>
          <a:bodyPr/>
          <a:lstStyle/>
          <a:p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404939-81A4-9BE0-76F9-06CC1044035E}"/>
              </a:ext>
            </a:extLst>
          </p:cNvPr>
          <p:cNvSpPr txBox="1"/>
          <p:nvPr/>
        </p:nvSpPr>
        <p:spPr>
          <a:xfrm>
            <a:off x="2869021" y="1913177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2.50 </a:t>
            </a:r>
          </a:p>
          <a:p>
            <a:pPr algn="r"/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</a:t>
            </a:r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kGal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62DE0F-361C-F4BC-DCBF-626580013FA5}"/>
              </a:ext>
            </a:extLst>
          </p:cNvPr>
          <p:cNvSpPr txBox="1"/>
          <p:nvPr/>
        </p:nvSpPr>
        <p:spPr>
          <a:xfrm>
            <a:off x="8009478" y="1812111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11.00 </a:t>
            </a:r>
          </a:p>
          <a:p>
            <a:r>
              <a:rPr lang="en-US" sz="1000" err="1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$/kGal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6116FAE-6E16-2984-22B7-D0C07A2F3B01}"/>
              </a:ext>
            </a:extLst>
          </p:cNvPr>
          <p:cNvSpPr/>
          <p:nvPr/>
        </p:nvSpPr>
        <p:spPr>
          <a:xfrm>
            <a:off x="4875058" y="1391099"/>
            <a:ext cx="113974" cy="826358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bg2">
                <a:lumMod val="75000"/>
              </a:schemeClr>
            </a:solidFill>
            <a:prstDash val="dash"/>
            <a:miter/>
          </a:ln>
        </p:spPr>
        <p:txBody>
          <a:bodyPr/>
          <a:lstStyle/>
          <a:p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DA7D13-5889-343D-67A2-DBC87B6FFC0C}"/>
              </a:ext>
            </a:extLst>
          </p:cNvPr>
          <p:cNvSpPr txBox="1"/>
          <p:nvPr/>
        </p:nvSpPr>
        <p:spPr>
          <a:xfrm>
            <a:off x="4710670" y="1088532"/>
            <a:ext cx="442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spc="0" baseline="0">
                <a:ln/>
                <a:solidFill>
                  <a:schemeClr val="bg2">
                    <a:lumMod val="7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5.50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0E0D06-F834-AEE2-90F7-18D3828720BB}"/>
              </a:ext>
            </a:extLst>
          </p:cNvPr>
          <p:cNvSpPr/>
          <p:nvPr/>
        </p:nvSpPr>
        <p:spPr>
          <a:xfrm flipH="1">
            <a:off x="5386792" y="1388584"/>
            <a:ext cx="211154" cy="868319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tx1"/>
            </a:solidFill>
            <a:prstDash val="dash"/>
            <a:miter/>
          </a:ln>
        </p:spPr>
        <p:txBody>
          <a:bodyPr/>
          <a:lstStyle/>
          <a:p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C8A688-EF46-3A52-192D-ABCB47BADC72}"/>
              </a:ext>
            </a:extLst>
          </p:cNvPr>
          <p:cNvSpPr txBox="1"/>
          <p:nvPr/>
        </p:nvSpPr>
        <p:spPr>
          <a:xfrm>
            <a:off x="5270994" y="1088531"/>
            <a:ext cx="442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6.50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325755E-248F-C667-65F1-3A75D0236D7F}"/>
              </a:ext>
            </a:extLst>
          </p:cNvPr>
          <p:cNvSpPr/>
          <p:nvPr/>
        </p:nvSpPr>
        <p:spPr>
          <a:xfrm flipH="1">
            <a:off x="3780116" y="1396238"/>
            <a:ext cx="62815" cy="811586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860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4823A-3E5F-09A5-64A2-DE7B6C878570}"/>
              </a:ext>
            </a:extLst>
          </p:cNvPr>
          <p:cNvSpPr txBox="1"/>
          <p:nvPr/>
        </p:nvSpPr>
        <p:spPr>
          <a:xfrm>
            <a:off x="3589348" y="1094738"/>
            <a:ext cx="444352" cy="24622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000" spc="0" baseline="0">
                <a:ln/>
                <a:latin typeface="Franklin Gothic Demi" panose="020B0703020102020204" pitchFamily="34" charset="0"/>
                <a:cs typeface="Segoe UI"/>
                <a:sym typeface="Segoe UI"/>
                <a:rtl val="0"/>
              </a:rPr>
              <a:t>3.50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FBF7F0-84CE-579E-51D6-62DC25D2ADB3}"/>
              </a:ext>
            </a:extLst>
          </p:cNvPr>
          <p:cNvSpPr txBox="1"/>
          <p:nvPr/>
        </p:nvSpPr>
        <p:spPr>
          <a:xfrm>
            <a:off x="374238" y="2920339"/>
            <a:ext cx="1319272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/>
                <a:cs typeface="Segoe UI"/>
                <a:sym typeface="Segoe UI"/>
              </a:rPr>
              <a:t> </a:t>
            </a:r>
            <a:r>
              <a:rPr lang="en-US" sz="1600" b="1">
                <a:ln/>
                <a:solidFill>
                  <a:srgbClr val="222222"/>
                </a:solidFill>
                <a:latin typeface="Franklin Gothic Book"/>
                <a:cs typeface="Segoe UI"/>
                <a:sym typeface="Segoe UI"/>
              </a:rPr>
              <a:t>Utility Rate - </a:t>
            </a:r>
            <a:endParaRPr lang="en-US" sz="1600" b="1" spc="0" baseline="0">
              <a:ln/>
              <a:solidFill>
                <a:srgbClr val="222222"/>
              </a:solidFill>
              <a:latin typeface="Franklin Gothic Book"/>
              <a:cs typeface="Segoe UI"/>
              <a:sym typeface="Segoe UI"/>
            </a:endParaRP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Sewer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A39A77-0340-535F-883E-9D931AB44F39}"/>
              </a:ext>
            </a:extLst>
          </p:cNvPr>
          <p:cNvSpPr/>
          <p:nvPr/>
        </p:nvSpPr>
        <p:spPr>
          <a:xfrm>
            <a:off x="3246978" y="3127862"/>
            <a:ext cx="4762500" cy="28575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00B050"/>
              </a:gs>
              <a:gs pos="10000">
                <a:srgbClr val="FFFF00"/>
              </a:gs>
              <a:gs pos="100000">
                <a:srgbClr val="FF0000"/>
              </a:gs>
            </a:gsLst>
            <a:lin ang="0" scaled="1"/>
          </a:gradFill>
          <a:ln w="9525" cap="flat">
            <a:solidFill>
              <a:srgbClr val="9A9A9A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D8D757-C6A6-1F7D-9EBE-9EAAF2752788}"/>
              </a:ext>
            </a:extLst>
          </p:cNvPr>
          <p:cNvSpPr txBox="1"/>
          <p:nvPr/>
        </p:nvSpPr>
        <p:spPr>
          <a:xfrm>
            <a:off x="2325300" y="3390646"/>
            <a:ext cx="937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3.00 </a:t>
            </a:r>
          </a:p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$/kGal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B9657F-65A1-9346-1B1F-FE0BBD115555}"/>
              </a:ext>
            </a:extLst>
          </p:cNvPr>
          <p:cNvSpPr txBox="1"/>
          <p:nvPr/>
        </p:nvSpPr>
        <p:spPr>
          <a:xfrm>
            <a:off x="8009478" y="3390646"/>
            <a:ext cx="567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14.00 </a:t>
            </a:r>
          </a:p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$/kGal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E9CC3FC-B9D4-786D-7B0A-8036DC214494}"/>
              </a:ext>
            </a:extLst>
          </p:cNvPr>
          <p:cNvSpPr/>
          <p:nvPr/>
        </p:nvSpPr>
        <p:spPr>
          <a:xfrm>
            <a:off x="4743704" y="2840087"/>
            <a:ext cx="45719" cy="841996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bg2">
                <a:lumMod val="75000"/>
              </a:schemeClr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A8A535-CD88-B677-C7F3-FF2559485053}"/>
              </a:ext>
            </a:extLst>
          </p:cNvPr>
          <p:cNvSpPr txBox="1"/>
          <p:nvPr/>
        </p:nvSpPr>
        <p:spPr>
          <a:xfrm>
            <a:off x="4545189" y="261638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spc="0" baseline="0">
                <a:ln/>
                <a:solidFill>
                  <a:schemeClr val="bg2">
                    <a:lumMod val="7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6.50</a:t>
            </a:r>
            <a:endParaRPr lang="en-US" sz="750" b="1" spc="0" baseline="0">
              <a:ln/>
              <a:solidFill>
                <a:schemeClr val="bg2">
                  <a:lumMod val="75000"/>
                </a:schemeClr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51C294F-334B-54DD-2B39-7E5C3FE5F860}"/>
              </a:ext>
            </a:extLst>
          </p:cNvPr>
          <p:cNvSpPr/>
          <p:nvPr/>
        </p:nvSpPr>
        <p:spPr>
          <a:xfrm>
            <a:off x="5176647" y="2840087"/>
            <a:ext cx="45719" cy="841996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tx1"/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CDCA0E-32E4-8AC9-F255-DF9AA8B9D0A9}"/>
              </a:ext>
            </a:extLst>
          </p:cNvPr>
          <p:cNvSpPr txBox="1"/>
          <p:nvPr/>
        </p:nvSpPr>
        <p:spPr>
          <a:xfrm>
            <a:off x="4978132" y="3688745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solidFill>
                  <a:srgbClr val="000000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7.50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E640119-6A50-F0EF-BAF5-044AA5F5D504}"/>
              </a:ext>
            </a:extLst>
          </p:cNvPr>
          <p:cNvSpPr/>
          <p:nvPr/>
        </p:nvSpPr>
        <p:spPr>
          <a:xfrm>
            <a:off x="3444875" y="2840087"/>
            <a:ext cx="45719" cy="841996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860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6E5741-FD77-E80F-F210-AB4D27A52570}"/>
              </a:ext>
            </a:extLst>
          </p:cNvPr>
          <p:cNvSpPr txBox="1"/>
          <p:nvPr/>
        </p:nvSpPr>
        <p:spPr>
          <a:xfrm>
            <a:off x="3246360" y="3690289"/>
            <a:ext cx="442750" cy="24622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b="1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3.50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26BD0C-EB6F-EDCC-3480-FA1E7DB43946}"/>
              </a:ext>
            </a:extLst>
          </p:cNvPr>
          <p:cNvSpPr txBox="1"/>
          <p:nvPr/>
        </p:nvSpPr>
        <p:spPr>
          <a:xfrm>
            <a:off x="365400" y="4404820"/>
            <a:ext cx="1267976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b="1">
                <a:ln/>
                <a:solidFill>
                  <a:srgbClr val="222222"/>
                </a:solidFill>
                <a:latin typeface="Franklin Gothic Book"/>
                <a:cs typeface="Segoe UI"/>
                <a:sym typeface="Segoe UI"/>
              </a:rPr>
              <a:t>Utility Rate - </a:t>
            </a:r>
            <a:endParaRPr lang="en-US" sz="1600" b="1" spc="0" baseline="0">
              <a:ln/>
              <a:solidFill>
                <a:srgbClr val="222222"/>
              </a:solidFill>
              <a:latin typeface="Franklin Gothic Book"/>
              <a:cs typeface="Segoe UI"/>
              <a:sym typeface="Segoe UI"/>
            </a:endParaRP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Irrigation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597C766-90D1-4841-BD47-057ABF2449ED}"/>
              </a:ext>
            </a:extLst>
          </p:cNvPr>
          <p:cNvSpPr/>
          <p:nvPr/>
        </p:nvSpPr>
        <p:spPr>
          <a:xfrm>
            <a:off x="3246978" y="4596835"/>
            <a:ext cx="4762500" cy="28575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00B050"/>
              </a:gs>
              <a:gs pos="46000">
                <a:srgbClr val="FFFF00"/>
              </a:gs>
              <a:gs pos="100000">
                <a:srgbClr val="FF0000"/>
              </a:gs>
            </a:gsLst>
            <a:lin ang="0" scaled="1"/>
          </a:gradFill>
          <a:ln w="9525" cap="flat">
            <a:solidFill>
              <a:srgbClr val="9A9A9A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DD151F-A983-CEA5-D5B2-A317E1D01F7B}"/>
              </a:ext>
            </a:extLst>
          </p:cNvPr>
          <p:cNvSpPr txBox="1"/>
          <p:nvPr/>
        </p:nvSpPr>
        <p:spPr>
          <a:xfrm>
            <a:off x="1619034" y="4798552"/>
            <a:ext cx="16489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1.50 </a:t>
            </a:r>
          </a:p>
          <a:p>
            <a:pPr algn="r"/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$/kGal</a:t>
            </a:r>
          </a:p>
          <a:p>
            <a:pPr algn="r"/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3561D8-8AC0-8AA8-55E1-5BEC3CDDCA33}"/>
              </a:ext>
            </a:extLst>
          </p:cNvPr>
          <p:cNvSpPr txBox="1"/>
          <p:nvPr/>
        </p:nvSpPr>
        <p:spPr>
          <a:xfrm>
            <a:off x="7985908" y="4795451"/>
            <a:ext cx="561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10.00 </a:t>
            </a:r>
          </a:p>
          <a:p>
            <a:r>
              <a:rPr lang="en-US" sz="100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$/kGal</a:t>
            </a:r>
            <a:endParaRPr lang="en-US" sz="1000" spc="0" baseline="0">
              <a:ln/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DEF2F54-5D44-E271-204D-7AC83A9691C0}"/>
              </a:ext>
            </a:extLst>
          </p:cNvPr>
          <p:cNvSpPr/>
          <p:nvPr/>
        </p:nvSpPr>
        <p:spPr>
          <a:xfrm>
            <a:off x="4909185" y="4296133"/>
            <a:ext cx="45719" cy="907283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bg2">
                <a:lumMod val="75000"/>
              </a:schemeClr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1E8DC1-47B1-035E-8FE7-4B2A1FB8B250}"/>
              </a:ext>
            </a:extLst>
          </p:cNvPr>
          <p:cNvSpPr txBox="1"/>
          <p:nvPr/>
        </p:nvSpPr>
        <p:spPr>
          <a:xfrm>
            <a:off x="4710670" y="408940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spc="0" baseline="0">
                <a:ln/>
                <a:solidFill>
                  <a:schemeClr val="bg2">
                    <a:lumMod val="7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4.50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3514763-9B2E-F308-AEDD-14BAE55C7EC5}"/>
              </a:ext>
            </a:extLst>
          </p:cNvPr>
          <p:cNvSpPr/>
          <p:nvPr/>
        </p:nvSpPr>
        <p:spPr>
          <a:xfrm>
            <a:off x="5189347" y="4296133"/>
            <a:ext cx="45719" cy="907283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tx1"/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3D184B-1CC9-053D-BE60-000C9C4EDB2A}"/>
              </a:ext>
            </a:extLst>
          </p:cNvPr>
          <p:cNvSpPr txBox="1"/>
          <p:nvPr/>
        </p:nvSpPr>
        <p:spPr>
          <a:xfrm>
            <a:off x="4990832" y="5183287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spc="0" baseline="0">
                <a:ln/>
                <a:solidFill>
                  <a:srgbClr val="000000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5.00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010671B-8941-F728-C151-ECFD69C39A1E}"/>
              </a:ext>
            </a:extLst>
          </p:cNvPr>
          <p:cNvSpPr/>
          <p:nvPr/>
        </p:nvSpPr>
        <p:spPr>
          <a:xfrm>
            <a:off x="4068826" y="4296133"/>
            <a:ext cx="45719" cy="907283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2860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F36178-548A-CADE-C645-C218CC6E12B3}"/>
              </a:ext>
            </a:extLst>
          </p:cNvPr>
          <p:cNvSpPr txBox="1"/>
          <p:nvPr/>
        </p:nvSpPr>
        <p:spPr>
          <a:xfrm>
            <a:off x="3870311" y="5176964"/>
            <a:ext cx="442750" cy="24622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b="1" spc="0" baseline="0">
                <a:ln/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3.00</a:t>
            </a:r>
          </a:p>
        </p:txBody>
      </p:sp>
      <p:sp>
        <p:nvSpPr>
          <p:cNvPr id="100" name="Title 1">
            <a:extLst>
              <a:ext uri="{FF2B5EF4-FFF2-40B4-BE49-F238E27FC236}">
                <a16:creationId xmlns:a16="http://schemas.microsoft.com/office/drawing/2014/main" id="{95BF0F52-D6E4-776A-1463-EBC14F117630}"/>
              </a:ext>
            </a:extLst>
          </p:cNvPr>
          <p:cNvSpPr txBox="1">
            <a:spLocks/>
          </p:cNvSpPr>
          <p:nvPr/>
        </p:nvSpPr>
        <p:spPr>
          <a:xfrm>
            <a:off x="159584" y="-39424"/>
            <a:ext cx="11433968" cy="969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latin typeface="Franklin Gothic Book" panose="020B0503020102020204" pitchFamily="34" charset="0"/>
              </a:rPr>
              <a:t>Project Utility Profile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DC24A-BB8E-5AD2-6603-B8954A050138}"/>
              </a:ext>
            </a:extLst>
          </p:cNvPr>
          <p:cNvSpPr txBox="1"/>
          <p:nvPr/>
        </p:nvSpPr>
        <p:spPr>
          <a:xfrm>
            <a:off x="379197" y="5780248"/>
            <a:ext cx="64027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0" baseline="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Source:</a:t>
            </a:r>
          </a:p>
          <a:p>
            <a:r>
              <a:rPr lang="en-US" sz="120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Water Utility Rates: Circle of Blue \u2013 Water Pricing (2026)</a:t>
            </a:r>
          </a:p>
          <a:p>
            <a:r>
              <a:rPr lang="en-US" sz="1200">
                <a:ln/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Sewer &amp; Irrigation Rates: Estimated from municipal utility rate surveys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CB21DAC-D864-1AF2-DD1E-4B33204D7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52150"/>
              </p:ext>
            </p:extLst>
          </p:nvPr>
        </p:nvGraphicFramePr>
        <p:xfrm>
          <a:off x="9818566" y="4504284"/>
          <a:ext cx="2622857" cy="23143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857">
                  <a:extLst>
                    <a:ext uri="{9D8B030D-6E8A-4147-A177-3AD203B41FA5}">
                      <a16:colId xmlns:a16="http://schemas.microsoft.com/office/drawing/2014/main" val="4073311657"/>
                    </a:ext>
                  </a:extLst>
                </a:gridCol>
              </a:tblGrid>
              <a:tr h="309521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Legend</a:t>
                      </a:r>
                      <a:endParaRPr lang="en-US" sz="1200" b="1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232014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US State Lowest Value </a:t>
                      </a:r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518838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US State Average Value </a:t>
                      </a:r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890901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US State Highest Value</a:t>
                      </a:r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908520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State Average Value: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</a:rPr>
                        <a:t>Newyork</a:t>
                      </a:r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737915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Franklin Gothic Book" panose="020B0503020102020204" pitchFamily="34" charset="0"/>
                        </a:rPr>
                        <a:t>Local Value: Syracuse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78822"/>
                  </a:ext>
                </a:extLst>
              </a:tr>
              <a:tr h="309521"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  <a:latin typeface="Franklin Gothic Book"/>
                      </a:endParaRP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31115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440ACC2F-1A74-FA0D-C87B-2F785C6CEDBF}"/>
              </a:ext>
            </a:extLst>
          </p:cNvPr>
          <p:cNvSpPr/>
          <p:nvPr/>
        </p:nvSpPr>
        <p:spPr>
          <a:xfrm>
            <a:off x="9470235" y="4936907"/>
            <a:ext cx="270896" cy="202043"/>
          </a:xfrm>
          <a:prstGeom prst="rect">
            <a:avLst/>
          </a:prstGeom>
          <a:solidFill>
            <a:srgbClr val="03B1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7FCDAF-4769-4E51-0B76-5EDE49B513CB}"/>
              </a:ext>
            </a:extLst>
          </p:cNvPr>
          <p:cNvSpPr/>
          <p:nvPr/>
        </p:nvSpPr>
        <p:spPr>
          <a:xfrm>
            <a:off x="9470235" y="5199054"/>
            <a:ext cx="270896" cy="202043"/>
          </a:xfrm>
          <a:prstGeom prst="rect">
            <a:avLst/>
          </a:prstGeom>
          <a:solidFill>
            <a:srgbClr val="FFF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C0CA86-17F1-9599-C9EA-028C4F72B257}"/>
              </a:ext>
            </a:extLst>
          </p:cNvPr>
          <p:cNvSpPr/>
          <p:nvPr/>
        </p:nvSpPr>
        <p:spPr>
          <a:xfrm>
            <a:off x="9470235" y="5495445"/>
            <a:ext cx="270896" cy="202043"/>
          </a:xfrm>
          <a:prstGeom prst="rect">
            <a:avLst/>
          </a:prstGeom>
          <a:solidFill>
            <a:srgbClr val="FF0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55447A7-8F5E-A4A1-1E41-AF6CC46CAC95}"/>
              </a:ext>
            </a:extLst>
          </p:cNvPr>
          <p:cNvSpPr/>
          <p:nvPr/>
        </p:nvSpPr>
        <p:spPr>
          <a:xfrm>
            <a:off x="9481858" y="5876563"/>
            <a:ext cx="247650" cy="9525"/>
          </a:xfrm>
          <a:custGeom>
            <a:avLst/>
            <a:gdLst>
              <a:gd name="csX0" fmla="*/ 0 w 247650"/>
              <a:gd name="csY0" fmla="*/ 0 h 9525"/>
              <a:gd name="csX1" fmla="*/ 247650 w 2476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ln w="24765" cap="flat">
            <a:solidFill>
              <a:srgbClr val="000000"/>
            </a:solidFill>
            <a:prstDash val="dash"/>
            <a:miter/>
          </a:ln>
        </p:spPr>
        <p:txBody>
          <a:bodyPr/>
          <a:lstStyle/>
          <a:p>
            <a:endParaRPr lang="en-US" sz="3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D2D3B2-B815-D665-6662-161834FE5121}"/>
              </a:ext>
            </a:extLst>
          </p:cNvPr>
          <p:cNvSpPr/>
          <p:nvPr/>
        </p:nvSpPr>
        <p:spPr>
          <a:xfrm>
            <a:off x="9481858" y="6223553"/>
            <a:ext cx="247650" cy="9525"/>
          </a:xfrm>
          <a:custGeom>
            <a:avLst/>
            <a:gdLst>
              <a:gd name="csX0" fmla="*/ 0 w 247650"/>
              <a:gd name="csY0" fmla="*/ 0 h 9525"/>
              <a:gd name="csX1" fmla="*/ 247650 w 2476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ln w="24765" cap="flat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US" sz="36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401148E-F744-D028-E290-CABEFE524131}"/>
              </a:ext>
            </a:extLst>
          </p:cNvPr>
          <p:cNvSpPr/>
          <p:nvPr/>
        </p:nvSpPr>
        <p:spPr>
          <a:xfrm>
            <a:off x="9599649" y="5138560"/>
            <a:ext cx="116259" cy="356885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 cap="flat">
            <a:solidFill>
              <a:schemeClr val="bg2">
                <a:lumMod val="75000"/>
              </a:schemeClr>
            </a:solidFill>
            <a:prstDash val="dash"/>
            <a:miter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059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780B-2690-90B5-3104-B71609A6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5DC1B6A7-C041-8FB6-EB8C-680D3AC884FD}"/>
              </a:ext>
            </a:extLst>
          </p:cNvPr>
          <p:cNvSpPr txBox="1">
            <a:spLocks/>
          </p:cNvSpPr>
          <p:nvPr/>
        </p:nvSpPr>
        <p:spPr>
          <a:xfrm>
            <a:off x="159584" y="-39424"/>
            <a:ext cx="11433968" cy="969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latin typeface="Franklin Gothic Book" panose="020B0503020102020204" pitchFamily="34" charset="0"/>
              </a:rPr>
              <a:t>Project Renewable Energy Profile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D84E8-9F04-D451-2CCC-A982F7C39353}"/>
              </a:ext>
            </a:extLst>
          </p:cNvPr>
          <p:cNvSpPr txBox="1"/>
          <p:nvPr/>
        </p:nvSpPr>
        <p:spPr>
          <a:xfrm>
            <a:off x="159584" y="4065765"/>
            <a:ext cx="240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40% of East Garage Roof 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11.61 </a:t>
            </a:r>
            <a:r>
              <a:rPr lang="en-US" sz="1600" b="1" spc="0" baseline="0" err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kBtu</a:t>
            </a:r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/</a:t>
            </a:r>
            <a:r>
              <a:rPr lang="en-US" sz="1600" b="1" spc="0" baseline="0" err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sq.ft</a:t>
            </a:r>
            <a:endParaRPr lang="en-US" sz="1600" b="1" spc="0" baseline="0">
              <a:ln/>
              <a:solidFill>
                <a:srgbClr val="222222"/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1182D-B3DD-C727-2173-4AE30442F53E}"/>
              </a:ext>
            </a:extLst>
          </p:cNvPr>
          <p:cNvSpPr txBox="1"/>
          <p:nvPr/>
        </p:nvSpPr>
        <p:spPr>
          <a:xfrm>
            <a:off x="106361" y="1493461"/>
            <a:ext cx="29091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40% of Proposed Building Roof 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10.57 </a:t>
            </a:r>
            <a:r>
              <a:rPr lang="en-US" sz="1600" b="1" spc="0" baseline="0" err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kBtu</a:t>
            </a:r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/</a:t>
            </a:r>
            <a:r>
              <a:rPr lang="en-US" sz="1600" b="1" spc="0" baseline="0" err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sq.ft</a:t>
            </a:r>
            <a:endParaRPr lang="en-US" sz="1600" b="1" spc="0" baseline="0">
              <a:ln/>
              <a:solidFill>
                <a:srgbClr val="222222"/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12C076-9019-FCDA-6A72-659C3941FCDF}"/>
              </a:ext>
            </a:extLst>
          </p:cNvPr>
          <p:cNvSpPr txBox="1"/>
          <p:nvPr/>
        </p:nvSpPr>
        <p:spPr>
          <a:xfrm>
            <a:off x="159584" y="2844225"/>
            <a:ext cx="2472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Canopy Above Green Roof 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0.72 </a:t>
            </a:r>
            <a:r>
              <a:rPr lang="en-US" sz="1600" b="1" spc="0" baseline="0" err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kBtu</a:t>
            </a:r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/</a:t>
            </a:r>
            <a:r>
              <a:rPr lang="en-US" sz="1600" b="1" spc="0" baseline="0" err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sq.ft</a:t>
            </a:r>
            <a:endParaRPr lang="en-US" sz="1600" b="1" spc="0" baseline="0">
              <a:ln/>
              <a:solidFill>
                <a:srgbClr val="222222"/>
              </a:solidFill>
              <a:latin typeface="Franklin Gothic Book" panose="020B0503020102020204" pitchFamily="34" charset="0"/>
              <a:cs typeface="Segoe UI"/>
              <a:sym typeface="Segoe UI"/>
              <a:rtl val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66DFF4-2460-D885-4A51-859C1AC6FD43}"/>
              </a:ext>
            </a:extLst>
          </p:cNvPr>
          <p:cNvGrpSpPr/>
          <p:nvPr/>
        </p:nvGrpSpPr>
        <p:grpSpPr>
          <a:xfrm>
            <a:off x="10426071" y="1740375"/>
            <a:ext cx="1963024" cy="3377249"/>
            <a:chOff x="382323" y="1519013"/>
            <a:chExt cx="1963024" cy="337724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FB7A8B5-E4A0-17AB-26F6-0EE770017A48}"/>
                </a:ext>
              </a:extLst>
            </p:cNvPr>
            <p:cNvSpPr txBox="1"/>
            <p:nvPr/>
          </p:nvSpPr>
          <p:spPr>
            <a:xfrm>
              <a:off x="382323" y="1519013"/>
              <a:ext cx="1963024" cy="41549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sz="1050" b="1">
                  <a:latin typeface="Franklin Gothic Book" panose="020B0503020102020204" pitchFamily="34" charset="0"/>
                </a:rPr>
                <a:t>Solar Radiation</a:t>
              </a:r>
            </a:p>
            <a:p>
              <a:r>
                <a:rPr lang="en-US" sz="1050">
                  <a:latin typeface="Franklin Gothic Book" panose="020B0503020102020204" pitchFamily="34" charset="0"/>
                </a:rPr>
                <a:t>kWh/m</a:t>
              </a:r>
              <a:r>
                <a:rPr lang="en-US" sz="1050" baseline="30000">
                  <a:latin typeface="Franklin Gothic Book" panose="020B0503020102020204" pitchFamily="34" charset="0"/>
                </a:rPr>
                <a:t>2</a:t>
              </a:r>
              <a:endParaRPr lang="en-US" sz="1050">
                <a:latin typeface="Franklin Gothic Book" panose="020B0503020102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A94FFD-F06E-FD91-A1F3-FE9ABE257870}"/>
                </a:ext>
              </a:extLst>
            </p:cNvPr>
            <p:cNvSpPr/>
            <p:nvPr/>
          </p:nvSpPr>
          <p:spPr>
            <a:xfrm>
              <a:off x="382323" y="2057400"/>
              <a:ext cx="228600" cy="2743200"/>
            </a:xfrm>
            <a:prstGeom prst="rect">
              <a:avLst/>
            </a:prstGeom>
            <a:gradFill>
              <a:gsLst>
                <a:gs pos="0">
                  <a:srgbClr val="760B8C"/>
                </a:gs>
                <a:gs pos="10000">
                  <a:srgbClr val="0D12B4"/>
                </a:gs>
                <a:gs pos="100000">
                  <a:srgbClr val="FDF533"/>
                </a:gs>
                <a:gs pos="20000">
                  <a:srgbClr val="0F74BF"/>
                </a:gs>
                <a:gs pos="90000">
                  <a:srgbClr val="FB8812"/>
                </a:gs>
                <a:gs pos="70000">
                  <a:srgbClr val="A92029"/>
                </a:gs>
                <a:gs pos="60000">
                  <a:srgbClr val="9F4A45"/>
                </a:gs>
                <a:gs pos="50000">
                  <a:srgbClr val="907559"/>
                </a:gs>
                <a:gs pos="40000">
                  <a:srgbClr val="40A442"/>
                </a:gs>
                <a:gs pos="30000">
                  <a:srgbClr val="0FB18A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518707-DD9A-A0AD-1AE5-E6835CA1BD1A}"/>
                </a:ext>
              </a:extLst>
            </p:cNvPr>
            <p:cNvSpPr txBox="1"/>
            <p:nvPr/>
          </p:nvSpPr>
          <p:spPr>
            <a:xfrm>
              <a:off x="610923" y="1953510"/>
              <a:ext cx="45720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00">
                  <a:latin typeface="Franklin Gothic Book" panose="020B0503020102020204" pitchFamily="34" charset="0"/>
                </a:rPr>
                <a:t>1500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8CE133-01BD-15FF-B4EF-7779360859A4}"/>
                </a:ext>
              </a:extLst>
            </p:cNvPr>
            <p:cNvSpPr txBox="1"/>
            <p:nvPr/>
          </p:nvSpPr>
          <p:spPr>
            <a:xfrm>
              <a:off x="610923" y="4665430"/>
              <a:ext cx="45720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00">
                  <a:latin typeface="Franklin Gothic Book" panose="020B0503020102020204" pitchFamily="34" charset="0"/>
                </a:rPr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920419-097D-3808-9F7E-E08BDBB203E7}"/>
                </a:ext>
              </a:extLst>
            </p:cNvPr>
            <p:cNvSpPr txBox="1"/>
            <p:nvPr/>
          </p:nvSpPr>
          <p:spPr>
            <a:xfrm>
              <a:off x="610923" y="2857484"/>
              <a:ext cx="45720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00">
                  <a:latin typeface="Franklin Gothic Book" panose="020B0503020102020204" pitchFamily="34" charset="0"/>
                </a:rPr>
                <a:t>1000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9443C9-15D7-7FA1-40A4-C2C4CC5F0AC4}"/>
                </a:ext>
              </a:extLst>
            </p:cNvPr>
            <p:cNvSpPr txBox="1"/>
            <p:nvPr/>
          </p:nvSpPr>
          <p:spPr>
            <a:xfrm>
              <a:off x="610923" y="3761458"/>
              <a:ext cx="45720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00">
                  <a:latin typeface="Franklin Gothic Book" panose="020B0503020102020204" pitchFamily="34" charset="0"/>
                </a:rPr>
                <a:t>500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14E901-1571-94B5-897D-2A76F0D57531}"/>
                </a:ext>
              </a:extLst>
            </p:cNvPr>
            <p:cNvSpPr txBox="1"/>
            <p:nvPr/>
          </p:nvSpPr>
          <p:spPr>
            <a:xfrm>
              <a:off x="610923" y="2405497"/>
              <a:ext cx="45720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00">
                  <a:latin typeface="Franklin Gothic Book" panose="020B0503020102020204" pitchFamily="34" charset="0"/>
                </a:rPr>
                <a:t>1250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0889BB-D8A1-7F40-0EA0-0DBE2E8236F2}"/>
                </a:ext>
              </a:extLst>
            </p:cNvPr>
            <p:cNvSpPr txBox="1"/>
            <p:nvPr/>
          </p:nvSpPr>
          <p:spPr>
            <a:xfrm>
              <a:off x="610923" y="4213445"/>
              <a:ext cx="45720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00">
                  <a:latin typeface="Franklin Gothic Book" panose="020B0503020102020204" pitchFamily="34" charset="0"/>
                </a:rPr>
                <a:t>250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28814E-4031-0677-80E1-2DAA4ED84C95}"/>
                </a:ext>
              </a:extLst>
            </p:cNvPr>
            <p:cNvSpPr txBox="1"/>
            <p:nvPr/>
          </p:nvSpPr>
          <p:spPr>
            <a:xfrm>
              <a:off x="610923" y="3309471"/>
              <a:ext cx="45720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00">
                  <a:latin typeface="Franklin Gothic Book" panose="020B0503020102020204" pitchFamily="34" charset="0"/>
                </a:rPr>
                <a:t>750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424ADB-224F-4C96-D4B1-FC1EF004B42E}"/>
              </a:ext>
            </a:extLst>
          </p:cNvPr>
          <p:cNvGrpSpPr/>
          <p:nvPr/>
        </p:nvGrpSpPr>
        <p:grpSpPr>
          <a:xfrm>
            <a:off x="2923437" y="1180878"/>
            <a:ext cx="7045434" cy="4859704"/>
            <a:chOff x="541814" y="1356079"/>
            <a:chExt cx="5031179" cy="352561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4BFD7B3-78E3-5F31-953D-6BFB96E1824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1814" y="1356079"/>
              <a:ext cx="5031179" cy="3498242"/>
              <a:chOff x="541814" y="1356079"/>
              <a:chExt cx="5031179" cy="349824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2E297B9-5F5D-89B0-B241-9D2B854BEEC8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41814" y="1356079"/>
                <a:ext cx="5031179" cy="3498242"/>
                <a:chOff x="541814" y="1356079"/>
                <a:chExt cx="5031179" cy="3498242"/>
              </a:xfrm>
            </p:grpSpPr>
            <p:pic>
              <p:nvPicPr>
                <p:cNvPr id="1028" name="Picture 4">
                  <a:extLst>
                    <a:ext uri="{FF2B5EF4-FFF2-40B4-BE49-F238E27FC236}">
                      <a16:creationId xmlns:a16="http://schemas.microsoft.com/office/drawing/2014/main" id="{D1E16AA0-761B-2DC1-292F-9E3109C92F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alphaModFix amt="98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1814" y="1356079"/>
                  <a:ext cx="5031179" cy="349824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EC384F5A-C96E-6033-D0DE-D8499B42A16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79950" y="4236914"/>
                  <a:ext cx="541690" cy="280838"/>
                </a:xfrm>
                <a:prstGeom prst="ellipse">
                  <a:avLst/>
                </a:prstGeom>
                <a:solidFill>
                  <a:srgbClr val="766D5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034" name="Picture 10">
                <a:extLst>
                  <a:ext uri="{FF2B5EF4-FFF2-40B4-BE49-F238E27FC236}">
                    <a16:creationId xmlns:a16="http://schemas.microsoft.com/office/drawing/2014/main" id="{D9AB6F88-3942-96E6-A904-498B4CFAB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9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8830" y="1463635"/>
                <a:ext cx="4881961" cy="33906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68C1DC6D-2819-8C92-E279-2B88824D0C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98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42" t="36100" r="23722" b="24347"/>
            <a:stretch>
              <a:fillRect/>
            </a:stretch>
          </p:blipFill>
          <p:spPr bwMode="auto">
            <a:xfrm>
              <a:off x="2402681" y="2637555"/>
              <a:ext cx="1951458" cy="1355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12BC488E-58EE-BB4B-6746-9DD1E9EAE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9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696" y="1443688"/>
              <a:ext cx="4950095" cy="3438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5C9CB68-8F39-8F49-88A0-5E209BFE315F}"/>
              </a:ext>
            </a:extLst>
          </p:cNvPr>
          <p:cNvCxnSpPr>
            <a:cxnSpLocks/>
          </p:cNvCxnSpPr>
          <p:nvPr/>
        </p:nvCxnSpPr>
        <p:spPr>
          <a:xfrm rot="10800000">
            <a:off x="2656487" y="4327680"/>
            <a:ext cx="3397494" cy="17907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8CB583A-276C-DE2E-587C-E9F4E80A745C}"/>
              </a:ext>
            </a:extLst>
          </p:cNvPr>
          <p:cNvCxnSpPr>
            <a:cxnSpLocks/>
          </p:cNvCxnSpPr>
          <p:nvPr/>
        </p:nvCxnSpPr>
        <p:spPr>
          <a:xfrm rot="10800000">
            <a:off x="2994289" y="1785848"/>
            <a:ext cx="4189866" cy="30657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C2B7E83-9B50-2B66-AA4C-9438A8D98CAD}"/>
              </a:ext>
            </a:extLst>
          </p:cNvPr>
          <p:cNvCxnSpPr>
            <a:cxnSpLocks/>
            <a:endCxn id="12" idx="3"/>
          </p:cNvCxnSpPr>
          <p:nvPr/>
        </p:nvCxnSpPr>
        <p:spPr>
          <a:xfrm rot="10800000">
            <a:off x="2631927" y="3136614"/>
            <a:ext cx="3422048" cy="8462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04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A312-5A2B-0BE3-0174-BCFE8CC5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C10AF26B-9626-5890-962A-E41F94323A9A}"/>
              </a:ext>
            </a:extLst>
          </p:cNvPr>
          <p:cNvSpPr txBox="1">
            <a:spLocks/>
          </p:cNvSpPr>
          <p:nvPr/>
        </p:nvSpPr>
        <p:spPr>
          <a:xfrm>
            <a:off x="304800" y="177800"/>
            <a:ext cx="11582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200" b="1">
                <a:latin typeface="Franklin Gothic Book"/>
              </a:rPr>
              <a:t>Project Renewable Energy Profile</a:t>
            </a:r>
            <a:endParaRPr lang="en-US" sz="4200">
              <a:latin typeface="Franklin Gothic 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DC64F-64F2-DE21-F635-986904637361}"/>
              </a:ext>
            </a:extLst>
          </p:cNvPr>
          <p:cNvSpPr txBox="1"/>
          <p:nvPr/>
        </p:nvSpPr>
        <p:spPr>
          <a:xfrm>
            <a:off x="8449159" y="5579645"/>
            <a:ext cx="15202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Photoshop this</a:t>
            </a:r>
          </a:p>
          <a:p>
            <a:r>
              <a:rPr lang="en-US" sz="1600" b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A=0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B=25</a:t>
            </a:r>
            <a:r>
              <a:rPr lang="en-US" sz="1600" b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0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c-=500</a:t>
            </a:r>
          </a:p>
          <a:p>
            <a:r>
              <a:rPr lang="en-US" sz="1600" b="1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D=750</a:t>
            </a:r>
          </a:p>
          <a:p>
            <a:r>
              <a:rPr lang="en-US" sz="1600" b="1" spc="0" baseline="0">
                <a:ln/>
                <a:solidFill>
                  <a:srgbClr val="222222"/>
                </a:solidFill>
                <a:latin typeface="Franklin Gothic Book" panose="020B0503020102020204" pitchFamily="34" charset="0"/>
                <a:cs typeface="Segoe UI"/>
                <a:sym typeface="Segoe UI"/>
                <a:rtl val="0"/>
              </a:rPr>
              <a:t>E=1250/1500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F81812-D8FD-3CF4-CA8E-67456EACA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9910"/>
            <a:ext cx="12192000" cy="355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32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7977-D4E1-F9E4-682E-BA06351E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8250B4-46E3-DD6A-8CC1-C3422E2B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352425"/>
            <a:ext cx="9347200" cy="4096657"/>
          </a:xfrm>
          <a:prstGeom prst="rect">
            <a:avLst/>
          </a:prstGeom>
        </p:spPr>
      </p:pic>
      <p:sp>
        <p:nvSpPr>
          <p:cNvPr id="100" name="Title 1">
            <a:extLst>
              <a:ext uri="{FF2B5EF4-FFF2-40B4-BE49-F238E27FC236}">
                <a16:creationId xmlns:a16="http://schemas.microsoft.com/office/drawing/2014/main" id="{66BB5669-4780-F61F-1BF1-9CAB315F5611}"/>
              </a:ext>
            </a:extLst>
          </p:cNvPr>
          <p:cNvSpPr txBox="1">
            <a:spLocks/>
          </p:cNvSpPr>
          <p:nvPr/>
        </p:nvSpPr>
        <p:spPr>
          <a:xfrm>
            <a:off x="304800" y="177800"/>
            <a:ext cx="11582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200" b="1">
                <a:latin typeface="Franklin Gothic Book"/>
              </a:rPr>
              <a:t>Project Renewable Energy Profile</a:t>
            </a:r>
            <a:endParaRPr lang="en-US" sz="4200">
              <a:latin typeface="Franklin Gothic Boo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F1D337-A64B-526D-066F-504FF11DC30A}"/>
              </a:ext>
            </a:extLst>
          </p:cNvPr>
          <p:cNvGrpSpPr/>
          <p:nvPr/>
        </p:nvGrpSpPr>
        <p:grpSpPr>
          <a:xfrm>
            <a:off x="504217" y="3429000"/>
            <a:ext cx="11382983" cy="3076575"/>
            <a:chOff x="504217" y="3965575"/>
            <a:chExt cx="8636000" cy="25400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AEB2184-2ADC-B022-4D9B-BBB2F9D948B2}"/>
                </a:ext>
              </a:extLst>
            </p:cNvPr>
            <p:cNvSpPr txBox="1"/>
            <p:nvPr/>
          </p:nvSpPr>
          <p:spPr>
            <a:xfrm>
              <a:off x="5276850" y="4886325"/>
              <a:ext cx="3619500" cy="52322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400" b="1" i="1">
                  <a:solidFill>
                    <a:srgbClr val="05461E"/>
                  </a:solidFill>
                </a:rPr>
                <a:t>Beyond 700 kWh/m², a higher Lower Limit yields negligible additional EUI offset.</a:t>
              </a:r>
            </a:p>
          </p:txBody>
        </p:sp>
        <p:graphicFrame>
          <p:nvGraphicFramePr>
            <p:cNvPr id="426" name="TriChart 3">
              <a:extLst>
                <a:ext uri="{FF2B5EF4-FFF2-40B4-BE49-F238E27FC236}">
                  <a16:creationId xmlns:a16="http://schemas.microsoft.com/office/drawing/2014/main" id="{C1B43BA2-340F-167A-53DD-94C9E613FE60}"/>
                </a:ext>
              </a:extLst>
            </p:cNvPr>
            <p:cNvGraphicFramePr/>
            <p:nvPr/>
          </p:nvGraphicFramePr>
          <p:xfrm>
            <a:off x="504217" y="3965575"/>
            <a:ext cx="8636000" cy="254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32113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9B3EF-481B-9832-90BA-FF3FB3F8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24972A9-7B8A-E1C8-9CCC-C42FEDA10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43" y="1306621"/>
            <a:ext cx="5994401" cy="2627204"/>
          </a:xfrm>
          <a:prstGeom prst="rect">
            <a:avLst/>
          </a:prstGeom>
        </p:spPr>
      </p:pic>
      <p:sp>
        <p:nvSpPr>
          <p:cNvPr id="100" name="Title 1">
            <a:extLst>
              <a:ext uri="{FF2B5EF4-FFF2-40B4-BE49-F238E27FC236}">
                <a16:creationId xmlns:a16="http://schemas.microsoft.com/office/drawing/2014/main" id="{1EB70190-EC6A-D0A3-5739-3812C298CE58}"/>
              </a:ext>
            </a:extLst>
          </p:cNvPr>
          <p:cNvSpPr txBox="1">
            <a:spLocks/>
          </p:cNvSpPr>
          <p:nvPr/>
        </p:nvSpPr>
        <p:spPr>
          <a:xfrm>
            <a:off x="304800" y="177800"/>
            <a:ext cx="11582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200" b="1">
                <a:latin typeface="Franklin Gothic Book"/>
              </a:rPr>
              <a:t>Project Renewable Energy Profile</a:t>
            </a:r>
            <a:endParaRPr lang="en-US" sz="4200">
              <a:latin typeface="Franklin Gothic Book"/>
            </a:endParaRPr>
          </a:p>
        </p:txBody>
      </p:sp>
      <p:graphicFrame>
        <p:nvGraphicFramePr>
          <p:cNvPr id="425" name="TriChart 2">
            <a:extLst>
              <a:ext uri="{FF2B5EF4-FFF2-40B4-BE49-F238E27FC236}">
                <a16:creationId xmlns:a16="http://schemas.microsoft.com/office/drawing/2014/main" id="{1B9F5AF3-4AC7-07D7-F661-8301EB82A3BB}"/>
              </a:ext>
            </a:extLst>
          </p:cNvPr>
          <p:cNvGraphicFramePr/>
          <p:nvPr/>
        </p:nvGraphicFramePr>
        <p:xfrm>
          <a:off x="7097486" y="939800"/>
          <a:ext cx="5094514" cy="3047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E79272E0-4E9C-5DA9-243D-4A7106978939}"/>
              </a:ext>
            </a:extLst>
          </p:cNvPr>
          <p:cNvGrpSpPr/>
          <p:nvPr/>
        </p:nvGrpSpPr>
        <p:grpSpPr>
          <a:xfrm>
            <a:off x="304800" y="3933828"/>
            <a:ext cx="11382983" cy="2746377"/>
            <a:chOff x="504217" y="3965575"/>
            <a:chExt cx="8636000" cy="25400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B079FB-E674-FAF2-08E2-4BCF1965F071}"/>
                </a:ext>
              </a:extLst>
            </p:cNvPr>
            <p:cNvSpPr txBox="1"/>
            <p:nvPr/>
          </p:nvSpPr>
          <p:spPr>
            <a:xfrm>
              <a:off x="5276850" y="4886325"/>
              <a:ext cx="3619500" cy="52322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400" b="1" i="1">
                  <a:solidFill>
                    <a:srgbClr val="000000"/>
                  </a:solidFill>
                </a:rPr>
                <a:t>Beyond 700 kWh/m², a higher Lower Limit yields negligible additional EUI offset.</a:t>
              </a:r>
            </a:p>
          </p:txBody>
        </p:sp>
        <p:graphicFrame>
          <p:nvGraphicFramePr>
            <p:cNvPr id="8" name="TriChart 3">
              <a:extLst>
                <a:ext uri="{FF2B5EF4-FFF2-40B4-BE49-F238E27FC236}">
                  <a16:creationId xmlns:a16="http://schemas.microsoft.com/office/drawing/2014/main" id="{ECA905CA-C117-9C86-7EDF-14A78953F1E6}"/>
                </a:ext>
              </a:extLst>
            </p:cNvPr>
            <p:cNvGraphicFramePr/>
            <p:nvPr/>
          </p:nvGraphicFramePr>
          <p:xfrm>
            <a:off x="504217" y="3965575"/>
            <a:ext cx="8636000" cy="254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7460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F760BA-CBB6-6E2D-9F7E-A4651EC08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096747"/>
              </p:ext>
            </p:extLst>
          </p:nvPr>
        </p:nvGraphicFramePr>
        <p:xfrm>
          <a:off x="838201" y="309880"/>
          <a:ext cx="10515597" cy="6238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07356">
                  <a:extLst>
                    <a:ext uri="{9D8B030D-6E8A-4147-A177-3AD203B41FA5}">
                      <a16:colId xmlns:a16="http://schemas.microsoft.com/office/drawing/2014/main" val="382426696"/>
                    </a:ext>
                  </a:extLst>
                </a:gridCol>
                <a:gridCol w="1704185">
                  <a:extLst>
                    <a:ext uri="{9D8B030D-6E8A-4147-A177-3AD203B41FA5}">
                      <a16:colId xmlns:a16="http://schemas.microsoft.com/office/drawing/2014/main" val="3635911648"/>
                    </a:ext>
                  </a:extLst>
                </a:gridCol>
                <a:gridCol w="1801014">
                  <a:extLst>
                    <a:ext uri="{9D8B030D-6E8A-4147-A177-3AD203B41FA5}">
                      <a16:colId xmlns:a16="http://schemas.microsoft.com/office/drawing/2014/main" val="2669323676"/>
                    </a:ext>
                  </a:extLst>
                </a:gridCol>
                <a:gridCol w="1801014">
                  <a:extLst>
                    <a:ext uri="{9D8B030D-6E8A-4147-A177-3AD203B41FA5}">
                      <a16:colId xmlns:a16="http://schemas.microsoft.com/office/drawing/2014/main" val="840264125"/>
                    </a:ext>
                  </a:extLst>
                </a:gridCol>
                <a:gridCol w="1801014">
                  <a:extLst>
                    <a:ext uri="{9D8B030D-6E8A-4147-A177-3AD203B41FA5}">
                      <a16:colId xmlns:a16="http://schemas.microsoft.com/office/drawing/2014/main" val="4017046731"/>
                    </a:ext>
                  </a:extLst>
                </a:gridCol>
                <a:gridCol w="1801014">
                  <a:extLst>
                    <a:ext uri="{9D8B030D-6E8A-4147-A177-3AD203B41FA5}">
                      <a16:colId xmlns:a16="http://schemas.microsoft.com/office/drawing/2014/main" val="1065437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Lower Limit 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(kWh/m2)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70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BIPV Module Area (ft2)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70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BIPV DC Capacity (kW)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70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BIPV Productional Potential kWh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70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BIPV Productional Potential (kWh/Area)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70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EUI Offset 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kBtu/sq.ft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70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36537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43,676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324.6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149,671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3.4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2.27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10188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37,081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275.6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148,841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2.26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08433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36,277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269.5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148,160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4.1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2.25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2579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35,855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266.4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147,456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4.1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2.24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42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32,649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242.5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140,214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4.3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2.13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4399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500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30,014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222.9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132,526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4.4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2.01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24735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600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23,766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176.4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111,033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4.7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1.68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26463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700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17,407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129.1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84,723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4.9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1.28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60461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800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3,824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28.2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20,179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5.3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90306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900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440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2.9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2,360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5.4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97136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1000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79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201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2.5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0.003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06486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1100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52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87534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1200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52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49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1300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52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212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1400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52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46386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1500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52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A3D1B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32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399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55E53F-09E6-B191-8520-C6B182F3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51FE3338-F9AB-EC7D-69C8-6281D9C013B8}"/>
              </a:ext>
            </a:extLst>
          </p:cNvPr>
          <p:cNvSpPr txBox="1">
            <a:spLocks/>
          </p:cNvSpPr>
          <p:nvPr/>
        </p:nvSpPr>
        <p:spPr>
          <a:xfrm>
            <a:off x="304800" y="177800"/>
            <a:ext cx="11582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latin typeface="Franklin Gothic Book" panose="020B0503020102020204" pitchFamily="34" charset="0"/>
              </a:rPr>
              <a:t>Project Renewable Energy Profile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254000" y="1092200"/>
          <a:ext cx="3784600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2" name="Chart 2"/>
          <p:cNvGraphicFramePr/>
          <p:nvPr/>
        </p:nvGraphicFramePr>
        <p:xfrm>
          <a:off x="4203700" y="1092200"/>
          <a:ext cx="3784600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3" name="Chart 3"/>
          <p:cNvGraphicFramePr/>
          <p:nvPr/>
        </p:nvGraphicFramePr>
        <p:xfrm>
          <a:off x="8153400" y="1092200"/>
          <a:ext cx="3784600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4" name="Chart 4"/>
          <p:cNvGraphicFramePr/>
          <p:nvPr/>
        </p:nvGraphicFramePr>
        <p:xfrm>
          <a:off x="2235200" y="3886200"/>
          <a:ext cx="3784600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5" name="Chart 5"/>
          <p:cNvGraphicFramePr/>
          <p:nvPr/>
        </p:nvGraphicFramePr>
        <p:xfrm>
          <a:off x="6184900" y="3886200"/>
          <a:ext cx="3784600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470CA4F-01AA-4167-807F-60178486C7EF}"/>
              </a:ext>
            </a:extLst>
          </p:cNvPr>
          <p:cNvSpPr txBox="1"/>
          <p:nvPr/>
        </p:nvSpPr>
        <p:spPr>
          <a:xfrm>
            <a:off x="304800" y="65532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i="1">
                <a:solidFill>
                  <a:srgbClr val="1A1A1A"/>
                </a:solidFill>
              </a:rPr>
              <a:t>All charts — X-axis: Lower Limit (kWh/m²)</a:t>
            </a:r>
          </a:p>
        </p:txBody>
      </p:sp>
    </p:spTree>
    <p:extLst>
      <p:ext uri="{BB962C8B-B14F-4D97-AF65-F5344CB8AC3E}">
        <p14:creationId xmlns:p14="http://schemas.microsoft.com/office/powerpoint/2010/main" val="1824030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E53F-09E6-B191-8520-C6B182F3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51FE3338-F9AB-EC7D-69C8-6281D9C013B8}"/>
              </a:ext>
            </a:extLst>
          </p:cNvPr>
          <p:cNvSpPr txBox="1">
            <a:spLocks/>
          </p:cNvSpPr>
          <p:nvPr/>
        </p:nvSpPr>
        <p:spPr>
          <a:xfrm>
            <a:off x="304800" y="177800"/>
            <a:ext cx="11582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200" b="1">
                <a:latin typeface="Franklin Gothic Book"/>
              </a:rPr>
              <a:t>Project Renewable Energy Profile</a:t>
            </a:r>
            <a:endParaRPr lang="en-US" sz="4200">
              <a:latin typeface="Franklin Gothic Book"/>
            </a:endParaRPr>
          </a:p>
        </p:txBody>
      </p:sp>
      <p:graphicFrame>
        <p:nvGraphicFramePr>
          <p:cNvPr id="424" name="TriChart 1"/>
          <p:cNvGraphicFramePr/>
          <p:nvPr/>
        </p:nvGraphicFramePr>
        <p:xfrm>
          <a:off x="304800" y="1016000"/>
          <a:ext cx="57404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5" name="TriChart 2"/>
          <p:cNvGraphicFramePr/>
          <p:nvPr/>
        </p:nvGraphicFramePr>
        <p:xfrm>
          <a:off x="6172200" y="1016000"/>
          <a:ext cx="57404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66ED947D-82BC-4C4A-3917-225F717A2E6C}"/>
              </a:ext>
            </a:extLst>
          </p:cNvPr>
          <p:cNvGrpSpPr/>
          <p:nvPr/>
        </p:nvGrpSpPr>
        <p:grpSpPr>
          <a:xfrm>
            <a:off x="504217" y="4095750"/>
            <a:ext cx="11382983" cy="2409825"/>
            <a:chOff x="504217" y="3965575"/>
            <a:chExt cx="8636000" cy="25400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C1EFA7-C7D0-B04C-92FF-E14451CB10A8}"/>
                </a:ext>
              </a:extLst>
            </p:cNvPr>
            <p:cNvSpPr txBox="1"/>
            <p:nvPr/>
          </p:nvSpPr>
          <p:spPr>
            <a:xfrm>
              <a:off x="5276850" y="4886325"/>
              <a:ext cx="3619500" cy="52322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400" b="1" i="1">
                  <a:solidFill>
                    <a:srgbClr val="000000"/>
                  </a:solidFill>
                </a:rPr>
                <a:t>Beyond 700 kWh/m², a higher Lower Limit yields negligible additional EUI offset.</a:t>
              </a:r>
            </a:p>
          </p:txBody>
        </p:sp>
        <p:graphicFrame>
          <p:nvGraphicFramePr>
            <p:cNvPr id="8" name="TriChart 3">
              <a:extLst>
                <a:ext uri="{FF2B5EF4-FFF2-40B4-BE49-F238E27FC236}">
                  <a16:creationId xmlns:a16="http://schemas.microsoft.com/office/drawing/2014/main" id="{8B2F90D1-799E-99D4-CC3C-C309EED5DD35}"/>
                </a:ext>
              </a:extLst>
            </p:cNvPr>
            <p:cNvGraphicFramePr/>
            <p:nvPr/>
          </p:nvGraphicFramePr>
          <p:xfrm>
            <a:off x="504217" y="3965575"/>
            <a:ext cx="8636000" cy="254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63287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E53F-09E6-B191-8520-C6B182F3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51FE3338-F9AB-EC7D-69C8-6281D9C013B8}"/>
              </a:ext>
            </a:extLst>
          </p:cNvPr>
          <p:cNvSpPr txBox="1">
            <a:spLocks/>
          </p:cNvSpPr>
          <p:nvPr/>
        </p:nvSpPr>
        <p:spPr>
          <a:xfrm>
            <a:off x="304800" y="177800"/>
            <a:ext cx="115824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solidFill>
                  <a:schemeClr val="tx1"/>
                </a:solidFill>
                <a:latin typeface="Franklin Gothic Book"/>
              </a:rPr>
              <a:t>EUI Offset vs. Production Intensity (kWh/Area)</a:t>
            </a:r>
          </a:p>
        </p:txBody>
      </p:sp>
      <p:graphicFrame>
        <p:nvGraphicFramePr>
          <p:cNvPr id="600" name="EUIvsIntensity"/>
          <p:cNvGraphicFramePr/>
          <p:nvPr/>
        </p:nvGraphicFramePr>
        <p:xfrm>
          <a:off x="1778000" y="1143000"/>
          <a:ext cx="8636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08666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7EFE-6232-E5CC-8D98-380D3131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31E2BABA-3257-97A1-8635-725C8FF1EF2D}"/>
              </a:ext>
            </a:extLst>
          </p:cNvPr>
          <p:cNvSpPr txBox="1">
            <a:spLocks/>
          </p:cNvSpPr>
          <p:nvPr/>
        </p:nvSpPr>
        <p:spPr>
          <a:xfrm>
            <a:off x="159584" y="-39424"/>
            <a:ext cx="11433968" cy="969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latin typeface="Franklin Gothic Book" panose="020B0503020102020204" pitchFamily="34" charset="0"/>
              </a:rPr>
              <a:t>LCOE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81405-3859-5DDA-005D-DA044A061167}"/>
              </a:ext>
            </a:extLst>
          </p:cNvPr>
          <p:cNvSpPr txBox="1"/>
          <p:nvPr/>
        </p:nvSpPr>
        <p:spPr>
          <a:xfrm>
            <a:off x="737826" y="1437815"/>
            <a:ext cx="90241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LCOE Parameters. </a:t>
            </a:r>
          </a:p>
          <a:p>
            <a:r>
              <a:rPr lang="en-US"/>
              <a:t>Total cost of solar array</a:t>
            </a:r>
          </a:p>
          <a:p>
            <a:r>
              <a:rPr lang="en-US"/>
              <a:t>How much energy it would produce in 25 years </a:t>
            </a:r>
          </a:p>
          <a:p>
            <a:r>
              <a:rPr lang="en-US"/>
              <a:t>Life cycle analysis period because panels are warranted for 25 years : 25 years </a:t>
            </a:r>
          </a:p>
          <a:p>
            <a:r>
              <a:rPr lang="en-US"/>
              <a:t>We take the analysis period into account because we want to do degradation through the years </a:t>
            </a:r>
          </a:p>
          <a:p>
            <a:endParaRPr lang="en-US"/>
          </a:p>
          <a:p>
            <a:r>
              <a:rPr lang="en-US"/>
              <a:t>Total cost for the PV / Total electricity generated give cost in terms of cents / kWh</a:t>
            </a:r>
          </a:p>
        </p:txBody>
      </p:sp>
    </p:spTree>
    <p:extLst>
      <p:ext uri="{BB962C8B-B14F-4D97-AF65-F5344CB8AC3E}">
        <p14:creationId xmlns:p14="http://schemas.microsoft.com/office/powerpoint/2010/main" val="3272927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FC885F-939D-4BDD-A3E7-E8F6B1469C1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70d9230-b693-4190-99ea-1556f04fe8d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andTime xmlns="496dd409-4ae5-430c-b9c5-58360d3a9bf1">2026-06-22T09:08:29+00:00</DateandTime>
    <Email xmlns="496dd409-4ae5-430c-b9c5-58360d3a9bf1" xsi:nil="true"/>
    <PhoneNumber xmlns="496dd409-4ae5-430c-b9c5-58360d3a9bf1" xsi:nil="true"/>
    <DateTime xmlns="496dd409-4ae5-430c-b9c5-58360d3a9bf1" xsi:nil="true"/>
    <TaxCatchAll xmlns="b4745172-f58d-4f22-aa13-f9576830588d" xsi:nil="true"/>
    <Discipline xmlns="496dd409-4ae5-430c-b9c5-58360d3a9bf1" xsi:nil="true"/>
    <ContactPerson xmlns="496dd409-4ae5-430c-b9c5-58360d3a9bf1" xsi:nil="true"/>
    <lcf76f155ced4ddcb4097134ff3c332f xmlns="496dd409-4ae5-430c-b9c5-58360d3a9bf1">
      <Terms xmlns="http://schemas.microsoft.com/office/infopath/2007/PartnerControls"/>
    </lcf76f155ced4ddcb4097134ff3c332f>
    <Website xmlns="496dd409-4ae5-430c-b9c5-58360d3a9bf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47FFD6D4DBA34A90C8984FADF4C223" ma:contentTypeVersion="24" ma:contentTypeDescription="Create a new document." ma:contentTypeScope="" ma:versionID="43fbe2c06ab25c94c9a68c0d9ea01948">
  <xsd:schema xmlns:xsd="http://www.w3.org/2001/XMLSchema" xmlns:xs="http://www.w3.org/2001/XMLSchema" xmlns:p="http://schemas.microsoft.com/office/2006/metadata/properties" xmlns:ns2="496dd409-4ae5-430c-b9c5-58360d3a9bf1" xmlns:ns3="b4745172-f58d-4f22-aa13-f9576830588d" targetNamespace="http://schemas.microsoft.com/office/2006/metadata/properties" ma:root="true" ma:fieldsID="ab6475727053421163de2bc419f52e73" ns2:_="" ns3:_="">
    <xsd:import namespace="496dd409-4ae5-430c-b9c5-58360d3a9bf1"/>
    <xsd:import namespace="b4745172-f58d-4f22-aa13-f95768305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ObjectDetectorVersions" minOccurs="0"/>
                <xsd:element ref="ns2:MediaServiceBillingMetadata" minOccurs="0"/>
                <xsd:element ref="ns2:DateTime" minOccurs="0"/>
                <xsd:element ref="ns2:DateandTime" minOccurs="0"/>
                <xsd:element ref="ns2:Discipline" minOccurs="0"/>
                <xsd:element ref="ns2:ContactPerson" minOccurs="0"/>
                <xsd:element ref="ns2:PhoneNumber" minOccurs="0"/>
                <xsd:element ref="ns2:Email" minOccurs="0"/>
                <xsd:element ref="ns2:Websi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dd409-4ae5-430c-b9c5-58360d3a9b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9b8e629e-9beb-48a5-9316-399a1baef8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DateTime" ma:index="24" nillable="true" ma:displayName="Date &amp; Time" ma:format="DateOnly" ma:internalName="DateTime">
      <xsd:simpleType>
        <xsd:restriction base="dms:DateTime"/>
      </xsd:simpleType>
    </xsd:element>
    <xsd:element name="DateandTime" ma:index="25" nillable="true" ma:displayName="Date and Time" ma:default="[today]" ma:format="DateTime" ma:internalName="DateandTime">
      <xsd:simpleType>
        <xsd:restriction base="dms:DateTime"/>
      </xsd:simpleType>
    </xsd:element>
    <xsd:element name="Discipline" ma:index="26" nillable="true" ma:displayName="Discipline" ma:format="Dropdown" ma:internalName="Discipline">
      <xsd:simpleType>
        <xsd:restriction base="dms:Choice">
          <xsd:enumeration value="Mechanical"/>
          <xsd:enumeration value="Electrical"/>
          <xsd:enumeration value="Plumbing"/>
          <xsd:enumeration value="Fire Protection"/>
          <xsd:enumeration value="MISC"/>
          <xsd:enumeration value="Choice 6"/>
        </xsd:restriction>
      </xsd:simpleType>
    </xsd:element>
    <xsd:element name="ContactPerson" ma:index="27" nillable="true" ma:displayName="Contact Person" ma:format="Dropdown" ma:internalName="ContactPerson">
      <xsd:simpleType>
        <xsd:restriction base="dms:Text">
          <xsd:maxLength value="255"/>
        </xsd:restriction>
      </xsd:simpleType>
    </xsd:element>
    <xsd:element name="PhoneNumber" ma:index="28" nillable="true" ma:displayName="Phone Number" ma:format="Dropdown" ma:internalName="PhoneNumber">
      <xsd:simpleType>
        <xsd:restriction base="dms:Note">
          <xsd:maxLength value="255"/>
        </xsd:restriction>
      </xsd:simpleType>
    </xsd:element>
    <xsd:element name="Email" ma:index="29" nillable="true" ma:displayName="Email" ma:format="Dropdown" ma:internalName="Email">
      <xsd:simpleType>
        <xsd:restriction base="dms:Text">
          <xsd:maxLength value="255"/>
        </xsd:restriction>
      </xsd:simpleType>
    </xsd:element>
    <xsd:element name="Website" ma:index="30" nillable="true" ma:displayName="Website" ma:format="Dropdown" ma:internalName="Websi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745172-f58d-4f22-aa13-f9576830588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24bd187-2676-49c9-985e-2d234ccab9e5}" ma:internalName="TaxCatchAll" ma:showField="CatchAllData" ma:web="b4745172-f58d-4f22-aa13-f95768305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9CF8C6-544A-42BF-A4FB-60C6A42E9B43}">
  <ds:schemaRefs>
    <ds:schemaRef ds:uri="496dd409-4ae5-430c-b9c5-58360d3a9bf1"/>
    <ds:schemaRef ds:uri="b4745172-f58d-4f22-aa13-f9576830588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3E90B80-AA23-4A06-8AB2-C6A9DDCE37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73E8ED-3BF6-4A9B-B778-7E8940812C9E}">
  <ds:schemaRefs>
    <ds:schemaRef ds:uri="496dd409-4ae5-430c-b9c5-58360d3a9bf1"/>
    <ds:schemaRef ds:uri="b4745172-f58d-4f22-aa13-f957683058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12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Climate Analysis</vt:lpstr>
      <vt:lpstr>Climate Analysis</vt:lpstr>
      <vt:lpstr>Climate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Khelan Mehta</dc:creator>
  <cp:revision>2</cp:revision>
  <dcterms:created xsi:type="dcterms:W3CDTF">2026-06-22T04:17:43Z</dcterms:created>
  <dcterms:modified xsi:type="dcterms:W3CDTF">2026-07-09T10:23:56Z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d69972-90a0-41d4-81ed-da631e1c4816_Enabled">
    <vt:lpwstr>true</vt:lpwstr>
  </property>
  <property fmtid="{D5CDD505-2E9C-101B-9397-08002B2CF9AE}" pid="3" name="MSIP_Label_bfd69972-90a0-41d4-81ed-da631e1c4816_SetDate">
    <vt:lpwstr>2026-06-22T04:36:15Z</vt:lpwstr>
  </property>
  <property fmtid="{D5CDD505-2E9C-101B-9397-08002B2CF9AE}" pid="4" name="MSIP_Label_bfd69972-90a0-41d4-81ed-da631e1c4816_Method">
    <vt:lpwstr>Standard</vt:lpwstr>
  </property>
  <property fmtid="{D5CDD505-2E9C-101B-9397-08002B2CF9AE}" pid="5" name="MSIP_Label_bfd69972-90a0-41d4-81ed-da631e1c4816_Name">
    <vt:lpwstr>defa4170-0d19-0005-0004-bc88714345d2</vt:lpwstr>
  </property>
  <property fmtid="{D5CDD505-2E9C-101B-9397-08002B2CF9AE}" pid="6" name="MSIP_Label_bfd69972-90a0-41d4-81ed-da631e1c4816_SiteId">
    <vt:lpwstr>2a628329-47c2-4e25-a873-a847f2961371</vt:lpwstr>
  </property>
  <property fmtid="{D5CDD505-2E9C-101B-9397-08002B2CF9AE}" pid="7" name="MSIP_Label_bfd69972-90a0-41d4-81ed-da631e1c4816_ActionId">
    <vt:lpwstr>e72a3efa-ab37-4f6d-adfa-2ed760eb2d7b</vt:lpwstr>
  </property>
  <property fmtid="{D5CDD505-2E9C-101B-9397-08002B2CF9AE}" pid="8" name="MSIP_Label_bfd69972-90a0-41d4-81ed-da631e1c4816_ContentBits">
    <vt:lpwstr>0</vt:lpwstr>
  </property>
  <property fmtid="{D5CDD505-2E9C-101B-9397-08002B2CF9AE}" pid="9" name="MSIP_Label_bfd69972-90a0-41d4-81ed-da631e1c4816_Tag">
    <vt:lpwstr>10, 3, 0, 1</vt:lpwstr>
  </property>
  <property fmtid="{D5CDD505-2E9C-101B-9397-08002B2CF9AE}" pid="10" name="ContentTypeId">
    <vt:lpwstr>0x0101009C47FFD6D4DBA34A90C8984FADF4C223</vt:lpwstr>
  </property>
  <property fmtid="{D5CDD505-2E9C-101B-9397-08002B2CF9AE}" pid="11" name="MediaServiceImageTags">
    <vt:lpwstr/>
  </property>
</Properties>
</file>